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059669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840480"/>
            <a:ext cx="4114800" cy="4114800"/>
          </a:xfrm>
          <a:prstGeom prst="ellipse">
            <a:avLst/>
          </a:prstGeom>
          <a:solidFill>
            <a:srgbClr val="10B981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34440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5966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481328"/>
            <a:ext cx="374904" cy="3749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3317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Android Market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640080" y="3291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Servicio Técnico Digital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40080" y="3977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reparaciones que funciona sin internet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5074920"/>
            <a:ext cx="384048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5212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Rurrenabaque, Beni · Bolivia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55595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de la Información II  ·  Carlos Paz · Noé Flores · Esequiel Flores · Yeis Chipunavi · Daniel Gómez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PROBLEMA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Hoy se gestiona con papel, WhatsApp y memoria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231136"/>
            <a:ext cx="713232" cy="713232"/>
          </a:xfrm>
          <a:prstGeom prst="ellipse">
            <a:avLst/>
          </a:prstGeom>
          <a:solidFill>
            <a:srgbClr val="FCE7E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864" y="2402312"/>
            <a:ext cx="370881" cy="37088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23113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Órdenes perdidas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74520" y="2706624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sin seguimiento, nadie sabe dónde están.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91072" y="192024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231136"/>
            <a:ext cx="713232" cy="713232"/>
          </a:xfrm>
          <a:prstGeom prst="ellipse">
            <a:avLst/>
          </a:prstGeom>
          <a:solidFill>
            <a:srgbClr val="FCE7E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4856" y="2402312"/>
            <a:ext cx="370881" cy="37088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25512" y="223113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Estados poco claros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525512" y="2706624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sabe en qué etapa va cada reparación.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393192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32688" y="4242816"/>
            <a:ext cx="713232" cy="713232"/>
          </a:xfrm>
          <a:prstGeom prst="ellipse">
            <a:avLst/>
          </a:prstGeom>
          <a:solidFill>
            <a:srgbClr val="FCE7E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864" y="4413992"/>
            <a:ext cx="370881" cy="37088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24281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 estadísticas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74520" y="4718304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sabe cuánto se gana ni qué se repara más.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291072" y="393192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0" y="4242816"/>
            <a:ext cx="713232" cy="713232"/>
          </a:xfrm>
          <a:prstGeom prst="ellipse">
            <a:avLst/>
          </a:prstGeom>
          <a:solidFill>
            <a:srgbClr val="FCE7E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4856" y="4413992"/>
            <a:ext cx="370881" cy="37088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25512" y="424281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Cliente sin información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525512" y="4718304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una y otra vez para preguntar.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Market · Servicio Técnico Digital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18585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SOLUCIÓN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 aplicación web que digitaliza todo el proceso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y su equipo se registran una sola vez. Desde la recepción hasta la entrega, toda la información queda en un solo lugar — y el cliente puede ver el estado en línea.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858000" y="1874520"/>
            <a:ext cx="46634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0" y="2148840"/>
            <a:ext cx="676656" cy="676656"/>
          </a:xfrm>
          <a:prstGeom prst="ellipse">
            <a:avLst/>
          </a:prstGeom>
          <a:solidFill>
            <a:srgbClr val="E4F4E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4717" y="2311237"/>
            <a:ext cx="351861" cy="3518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01000" y="212140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Funciona sin internet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001000" y="255117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Rurrenabaque.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858000" y="3364992"/>
            <a:ext cx="46634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132320" y="3639312"/>
            <a:ext cx="676656" cy="676656"/>
          </a:xfrm>
          <a:prstGeom prst="ellipse">
            <a:avLst/>
          </a:prstGeom>
          <a:solidFill>
            <a:srgbClr val="E4F4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717" y="3801709"/>
            <a:ext cx="351861" cy="35186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001000" y="36118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una sola laptop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8001000" y="404164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servidores ni nube.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858000" y="4855464"/>
            <a:ext cx="46634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132320" y="5129784"/>
            <a:ext cx="676656" cy="676656"/>
          </a:xfrm>
          <a:prstGeom prst="ellipse">
            <a:avLst/>
          </a:prstGeom>
          <a:solidFill>
            <a:srgbClr val="E4F4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4717" y="5292181"/>
            <a:ext cx="351861" cy="35186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001000" y="510235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 costos mensuales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001000" y="55321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gastos de hosting.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Market · Servicio Técnico Digital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18585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PROCESO DIGITALIZADO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 ingreso a la entrega, todo en un solo lugar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1339335" cy="1371600"/>
          </a:xfrm>
          <a:prstGeom prst="roundRect">
            <a:avLst>
              <a:gd name="adj" fmla="val 6827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62859" y="2980944"/>
            <a:ext cx="493776" cy="49377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1062859" y="29809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3584448"/>
            <a:ext cx="1247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Recepción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942839" y="3127248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235447" y="2743200"/>
            <a:ext cx="1339335" cy="1371600"/>
          </a:xfrm>
          <a:prstGeom prst="roundRect">
            <a:avLst>
              <a:gd name="adj" fmla="val 6827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58226" y="2980944"/>
            <a:ext cx="493776" cy="49377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2658226" y="29809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281167" y="3584448"/>
            <a:ext cx="1247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Diagnóstico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38205" y="3127248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830813" y="2743200"/>
            <a:ext cx="1339335" cy="1371600"/>
          </a:xfrm>
          <a:prstGeom prst="roundRect">
            <a:avLst>
              <a:gd name="adj" fmla="val 6827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53593" y="2980944"/>
            <a:ext cx="493776" cy="49377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4253593" y="29809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876533" y="3584448"/>
            <a:ext cx="1247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Reparación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133572" y="3127248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26180" y="2743200"/>
            <a:ext cx="1339335" cy="1371600"/>
          </a:xfrm>
          <a:prstGeom prst="roundRect">
            <a:avLst>
              <a:gd name="adj" fmla="val 6827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48960" y="2980944"/>
            <a:ext cx="493776" cy="49377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5848960" y="29809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471900" y="3584448"/>
            <a:ext cx="1247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Inventario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728939" y="3127248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021547" y="2743200"/>
            <a:ext cx="1339335" cy="1371600"/>
          </a:xfrm>
          <a:prstGeom prst="roundRect">
            <a:avLst>
              <a:gd name="adj" fmla="val 6827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44326" y="2980944"/>
            <a:ext cx="493776" cy="49377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7444326" y="29809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067267" y="3584448"/>
            <a:ext cx="1247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Pago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324306" y="3127248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8616914" y="2743200"/>
            <a:ext cx="1339335" cy="1371600"/>
          </a:xfrm>
          <a:prstGeom prst="roundRect">
            <a:avLst>
              <a:gd name="adj" fmla="val 6827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039693" y="2980944"/>
            <a:ext cx="493776" cy="49377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9039693" y="29809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662634" y="3584448"/>
            <a:ext cx="1247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Entrega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919672" y="3127248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10212280" y="2743200"/>
            <a:ext cx="1339335" cy="1371600"/>
          </a:xfrm>
          <a:prstGeom prst="roundRect">
            <a:avLst>
              <a:gd name="adj" fmla="val 6827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635060" y="2980944"/>
            <a:ext cx="493776" cy="49377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6" name="Text 34"/>
          <p:cNvSpPr/>
          <p:nvPr/>
        </p:nvSpPr>
        <p:spPr>
          <a:xfrm>
            <a:off x="10635060" y="29809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10258000" y="3584448"/>
            <a:ext cx="1247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Reportes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40080" y="4709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paso queda registrado con fecha, hora y técnico.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Market · Servicio Técnico Digital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18585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FUNCIONES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Todo lo que ya está construido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04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066544"/>
            <a:ext cx="530352" cy="530352"/>
          </a:xfrm>
          <a:prstGeom prst="ellipse">
            <a:avLst/>
          </a:prstGeom>
          <a:solidFill>
            <a:srgbClr val="E4F4E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6820" y="2193828"/>
            <a:ext cx="275783" cy="2757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18745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Clientes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407408" y="1874520"/>
            <a:ext cx="35204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26864" y="2066544"/>
            <a:ext cx="530352" cy="530352"/>
          </a:xfrm>
          <a:prstGeom prst="ellipse">
            <a:avLst/>
          </a:prstGeom>
          <a:solidFill>
            <a:srgbClr val="E4F4E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148" y="2193828"/>
            <a:ext cx="275783" cy="27578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40096" y="18745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Equipos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174736" y="1874520"/>
            <a:ext cx="35204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394192" y="2066544"/>
            <a:ext cx="530352" cy="530352"/>
          </a:xfrm>
          <a:prstGeom prst="ellipse">
            <a:avLst/>
          </a:prstGeom>
          <a:solidFill>
            <a:srgbClr val="E4F4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1476" y="2193828"/>
            <a:ext cx="275783" cy="27578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07424" y="18745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Órdenes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40080" y="3008376"/>
            <a:ext cx="35204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59536" y="3200400"/>
            <a:ext cx="530352" cy="530352"/>
          </a:xfrm>
          <a:prstGeom prst="ellipse">
            <a:avLst/>
          </a:prstGeom>
          <a:solidFill>
            <a:srgbClr val="E4F4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820" y="3327684"/>
            <a:ext cx="275783" cy="27578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72768" y="3008376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Técnicos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4407408" y="3008376"/>
            <a:ext cx="35204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626864" y="3200400"/>
            <a:ext cx="530352" cy="530352"/>
          </a:xfrm>
          <a:prstGeom prst="ellipse">
            <a:avLst/>
          </a:prstGeom>
          <a:solidFill>
            <a:srgbClr val="E4F4EC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148" y="3327684"/>
            <a:ext cx="275783" cy="27578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40096" y="3008376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Inventario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8174736" y="3008376"/>
            <a:ext cx="35204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8394192" y="3200400"/>
            <a:ext cx="530352" cy="530352"/>
          </a:xfrm>
          <a:prstGeom prst="ellipse">
            <a:avLst/>
          </a:prstGeom>
          <a:solidFill>
            <a:srgbClr val="E4F4EC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1476" y="3327684"/>
            <a:ext cx="275783" cy="275783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107424" y="3008376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Pagos</a:t>
            </a:r>
            <a:endParaRPr lang="en-US" sz="1500" dirty="0"/>
          </a:p>
        </p:txBody>
      </p:sp>
      <p:sp>
        <p:nvSpPr>
          <p:cNvPr id="28" name="Shape 20"/>
          <p:cNvSpPr/>
          <p:nvPr/>
        </p:nvSpPr>
        <p:spPr>
          <a:xfrm>
            <a:off x="640080" y="4142232"/>
            <a:ext cx="35204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859536" y="4334256"/>
            <a:ext cx="530352" cy="530352"/>
          </a:xfrm>
          <a:prstGeom prst="ellipse">
            <a:avLst/>
          </a:prstGeom>
          <a:solidFill>
            <a:srgbClr val="E4F4EC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6820" y="4461540"/>
            <a:ext cx="275783" cy="275783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572768" y="414223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Comprobante PDF</a:t>
            </a:r>
            <a:endParaRPr lang="en-US" sz="1500" dirty="0"/>
          </a:p>
        </p:txBody>
      </p:sp>
      <p:sp>
        <p:nvSpPr>
          <p:cNvPr id="32" name="Shape 23"/>
          <p:cNvSpPr/>
          <p:nvPr/>
        </p:nvSpPr>
        <p:spPr>
          <a:xfrm>
            <a:off x="4407408" y="4142232"/>
            <a:ext cx="35204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4626864" y="4334256"/>
            <a:ext cx="530352" cy="530352"/>
          </a:xfrm>
          <a:prstGeom prst="ellipse">
            <a:avLst/>
          </a:prstGeom>
          <a:solidFill>
            <a:srgbClr val="E4F4EC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148" y="4461540"/>
            <a:ext cx="275783" cy="275783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340096" y="414223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36" name="Shape 26"/>
          <p:cNvSpPr/>
          <p:nvPr/>
        </p:nvSpPr>
        <p:spPr>
          <a:xfrm>
            <a:off x="8174736" y="4142232"/>
            <a:ext cx="35204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8394192" y="4334256"/>
            <a:ext cx="530352" cy="530352"/>
          </a:xfrm>
          <a:prstGeom prst="ellipse">
            <a:avLst/>
          </a:prstGeom>
          <a:solidFill>
            <a:srgbClr val="E4F4EC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21476" y="4461540"/>
            <a:ext cx="275783" cy="275783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9107424" y="414223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Estado por QR</a:t>
            </a:r>
            <a:endParaRPr lang="en-US" sz="1500" dirty="0"/>
          </a:p>
        </p:txBody>
      </p:sp>
      <p:sp>
        <p:nvSpPr>
          <p:cNvPr id="40" name="Shape 29"/>
          <p:cNvSpPr/>
          <p:nvPr/>
        </p:nvSpPr>
        <p:spPr>
          <a:xfrm>
            <a:off x="640080" y="5276088"/>
            <a:ext cx="35204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0"/>
          <p:cNvSpPr/>
          <p:nvPr/>
        </p:nvSpPr>
        <p:spPr>
          <a:xfrm>
            <a:off x="859536" y="5468112"/>
            <a:ext cx="530352" cy="530352"/>
          </a:xfrm>
          <a:prstGeom prst="ellipse">
            <a:avLst/>
          </a:prstGeom>
          <a:solidFill>
            <a:srgbClr val="E4F4EC"/>
          </a:solidFill>
          <a:ln/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6820" y="5595396"/>
            <a:ext cx="275783" cy="275783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1572768" y="527608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Búsqueda global</a:t>
            </a:r>
            <a:endParaRPr lang="en-US" sz="1500" dirty="0"/>
          </a:p>
        </p:txBody>
      </p:sp>
      <p:sp>
        <p:nvSpPr>
          <p:cNvPr id="44" name="Shape 32"/>
          <p:cNvSpPr/>
          <p:nvPr/>
        </p:nvSpPr>
        <p:spPr>
          <a:xfrm>
            <a:off x="4407408" y="5276088"/>
            <a:ext cx="35204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45" name="Shape 33"/>
          <p:cNvSpPr/>
          <p:nvPr/>
        </p:nvSpPr>
        <p:spPr>
          <a:xfrm>
            <a:off x="4626864" y="5468112"/>
            <a:ext cx="530352" cy="530352"/>
          </a:xfrm>
          <a:prstGeom prst="ellipse">
            <a:avLst/>
          </a:prstGeom>
          <a:solidFill>
            <a:srgbClr val="E4F4EC"/>
          </a:solidFill>
          <a:ln/>
        </p:spPr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54148" y="5595396"/>
            <a:ext cx="275783" cy="275783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5340096" y="527608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Respaldo de datos</a:t>
            </a:r>
            <a:endParaRPr lang="en-US" sz="1500" dirty="0"/>
          </a:p>
        </p:txBody>
      </p:sp>
      <p:sp>
        <p:nvSpPr>
          <p:cNvPr id="48" name="Shape 35"/>
          <p:cNvSpPr/>
          <p:nvPr/>
        </p:nvSpPr>
        <p:spPr>
          <a:xfrm>
            <a:off x="8174736" y="5276088"/>
            <a:ext cx="35204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49" name="Shape 36"/>
          <p:cNvSpPr/>
          <p:nvPr/>
        </p:nvSpPr>
        <p:spPr>
          <a:xfrm>
            <a:off x="8394192" y="5468112"/>
            <a:ext cx="530352" cy="530352"/>
          </a:xfrm>
          <a:prstGeom prst="ellipse">
            <a:avLst/>
          </a:prstGeom>
          <a:solidFill>
            <a:srgbClr val="E4F4EC"/>
          </a:solidFill>
          <a:ln/>
        </p:spPr>
      </p:sp>
      <p:pic>
        <p:nvPicPr>
          <p:cNvPr id="5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21476" y="5595396"/>
            <a:ext cx="275783" cy="275783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9107424" y="527608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Documentación</a:t>
            </a:r>
            <a:endParaRPr lang="en-US" sz="1500" dirty="0"/>
          </a:p>
        </p:txBody>
      </p:sp>
      <p:sp>
        <p:nvSpPr>
          <p:cNvPr id="52" name="Text 38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Market · Servicio Técnico Digital</a:t>
            </a:r>
            <a:endParaRPr lang="en-US" sz="900" dirty="0"/>
          </a:p>
        </p:txBody>
      </p:sp>
      <p:sp>
        <p:nvSpPr>
          <p:cNvPr id="53" name="Text 39"/>
          <p:cNvSpPr/>
          <p:nvPr/>
        </p:nvSpPr>
        <p:spPr>
          <a:xfrm>
            <a:off x="1118585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DOS LADOS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 parte para el cliente, otra para el taller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240280"/>
            <a:ext cx="822960" cy="822960"/>
          </a:xfrm>
          <a:prstGeom prst="roundRect">
            <a:avLst>
              <a:gd name="adj" fmla="val 15556"/>
            </a:avLst>
          </a:prstGeom>
          <a:solidFill>
            <a:srgbClr val="05966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84" y="247802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233172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Lado Cliente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97280" y="342900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una reparación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el estado con código o QR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costo, diagnóstico e historial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97280" y="48463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el navegador, sin instalar nada.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91072" y="1874520"/>
            <a:ext cx="525780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56832" y="2240280"/>
            <a:ext cx="822960" cy="822960"/>
          </a:xfrm>
          <a:prstGeom prst="roundRect">
            <a:avLst>
              <a:gd name="adj" fmla="val 15556"/>
            </a:avLst>
          </a:prstGeom>
          <a:solidFill>
            <a:srgbClr val="16213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4576" y="247802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62672" y="233172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Lado Administración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748272" y="342900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y gestionar órdenes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Inventario, pagos y reportes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comprobantes en PDF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748272" y="48463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personal gestiona todo el taller.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Market · Servicio Técnico Digital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18585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Simple, robusta y sin internet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809848" y="1874520"/>
            <a:ext cx="4572000" cy="676656"/>
          </a:xfrm>
          <a:prstGeom prst="roundRect">
            <a:avLst>
              <a:gd name="adj" fmla="val 13514"/>
            </a:avLst>
          </a:prstGeom>
          <a:solidFill>
            <a:srgbClr val="16213A"/>
          </a:solidFill>
          <a:ln w="12700">
            <a:solidFill>
              <a:srgbClr val="2A38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09848" y="1874520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Navegador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809848" y="2505456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↓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09848" y="2862072"/>
            <a:ext cx="4572000" cy="676656"/>
          </a:xfrm>
          <a:prstGeom prst="roundRect">
            <a:avLst>
              <a:gd name="adj" fmla="val 13514"/>
            </a:avLst>
          </a:prstGeom>
          <a:solidFill>
            <a:srgbClr val="16213A"/>
          </a:solidFill>
          <a:ln w="12700">
            <a:solidFill>
              <a:srgbClr val="2A38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09848" y="2862072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Next.js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809848" y="3493008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09848" y="3849624"/>
            <a:ext cx="4572000" cy="676656"/>
          </a:xfrm>
          <a:prstGeom prst="roundRect">
            <a:avLst>
              <a:gd name="adj" fmla="val 13514"/>
            </a:avLst>
          </a:prstGeom>
          <a:solidFill>
            <a:srgbClr val="16213A"/>
          </a:solidFill>
          <a:ln w="12700">
            <a:solidFill>
              <a:srgbClr val="2A38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09848" y="3849624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Prisma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809848" y="448056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09848" y="4837176"/>
            <a:ext cx="4572000" cy="676656"/>
          </a:xfrm>
          <a:prstGeom prst="roundRect">
            <a:avLst>
              <a:gd name="adj" fmla="val 13514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09848" y="4837176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SQLite (archivo local)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68884" y="5715000"/>
            <a:ext cx="2542032" cy="566928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 w="12700">
            <a:solidFill>
              <a:srgbClr val="2A3858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780" y="5879592"/>
            <a:ext cx="237744" cy="23774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327252" y="571500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439516" y="5715000"/>
            <a:ext cx="2542032" cy="566928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 w="12700">
            <a:solidFill>
              <a:srgbClr val="2A3858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0412" y="5879592"/>
            <a:ext cx="237744" cy="23774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097884" y="571500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laptop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210148" y="5715000"/>
            <a:ext cx="2542032" cy="566928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 w="12700">
            <a:solidFill>
              <a:srgbClr val="2A3858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044" y="5879592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868516" y="571500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costos mensuales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8980780" y="5715000"/>
            <a:ext cx="2542032" cy="566928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 w="12700">
            <a:solidFill>
              <a:srgbClr val="2A3858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1676" y="5879592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639148" y="571500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propios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Market · Servicio Técnico Digital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18585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BUENAS PRÁCTICAS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Decisiones que lo hacen sólido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231136"/>
            <a:ext cx="713232" cy="713232"/>
          </a:xfrm>
          <a:prstGeom prst="ellipse">
            <a:avLst/>
          </a:prstGeom>
          <a:solidFill>
            <a:srgbClr val="E4F4E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864" y="2402312"/>
            <a:ext cx="370881" cy="37088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23113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Offline-first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74520" y="2706624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sin internet — perfecto para Rurrenabaque.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91072" y="192024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231136"/>
            <a:ext cx="713232" cy="713232"/>
          </a:xfrm>
          <a:prstGeom prst="ellipse">
            <a:avLst/>
          </a:prstGeom>
          <a:solidFill>
            <a:srgbClr val="E4F4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4856" y="2402312"/>
            <a:ext cx="370881" cy="37088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25512" y="223113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solo lugar para cada dato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525512" y="2706624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información duplicada ni contradictoria.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393192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32688" y="4242816"/>
            <a:ext cx="713232" cy="713232"/>
          </a:xfrm>
          <a:prstGeom prst="ellipse">
            <a:avLst/>
          </a:prstGeom>
          <a:solidFill>
            <a:srgbClr val="E4F4E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864" y="4413992"/>
            <a:ext cx="370881" cy="37088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24281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Estados controlados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74520" y="4718304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reportes y estadísticas funcionan de verdad.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291072" y="393192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0" y="4242816"/>
            <a:ext cx="713232" cy="713232"/>
          </a:xfrm>
          <a:prstGeom prst="ellipse">
            <a:avLst/>
          </a:prstGeom>
          <a:solidFill>
            <a:srgbClr val="E4F4E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4856" y="4413992"/>
            <a:ext cx="370881" cy="37088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25512" y="424281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Historial completo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525512" y="4718304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cambio queda con fecha, hora y técnico.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Market · Servicio Técnico Digital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18585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DEMOSTRACIÓN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que verán en vivo (5 minutos)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66928" cy="5669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08176" y="2011680"/>
            <a:ext cx="4370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llega al taller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724912"/>
            <a:ext cx="566928" cy="5669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24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08176" y="2724912"/>
            <a:ext cx="4370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crea la orden (REP-2026-…)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438144"/>
            <a:ext cx="566928" cy="5669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381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08176" y="3438144"/>
            <a:ext cx="4370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agrega el repuesto usado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151376"/>
            <a:ext cx="566928" cy="5669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1513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08176" y="4151376"/>
            <a:ext cx="4370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actualiza el estado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309360" y="2011680"/>
            <a:ext cx="566928" cy="5669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77456" y="2011680"/>
            <a:ext cx="4370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registra el pago (total)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309360" y="2724912"/>
            <a:ext cx="566928" cy="5669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2724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77456" y="2724912"/>
            <a:ext cx="4370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genera el comprobante (PDF + QR)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309360" y="3438144"/>
            <a:ext cx="566928" cy="5669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34381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77456" y="3438144"/>
            <a:ext cx="4370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consulta el estado en línea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309360" y="4517136"/>
            <a:ext cx="5212080" cy="713232"/>
          </a:xfrm>
          <a:prstGeom prst="roundRect">
            <a:avLst>
              <a:gd name="adj" fmla="val 12821"/>
            </a:avLst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4517136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 el Panel muestra los indicadores del taller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Market · Servicio Técnico Digital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8585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291840"/>
            <a:ext cx="5486400" cy="5486400"/>
          </a:xfrm>
          <a:prstGeom prst="ellipse">
            <a:avLst/>
          </a:prstGeom>
          <a:solidFill>
            <a:srgbClr val="059669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33172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la presentación al producto real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solo un proyecto de la universidad: es la base de un producto real para talleres de reparación.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2148840"/>
            <a:ext cx="32004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Market · Servicio Técnico Digital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EVOLUCIÓN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Cinco etapas de crecimiento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911535" cy="786384"/>
          </a:xfrm>
          <a:prstGeom prst="roundRect">
            <a:avLst>
              <a:gd name="adj" fmla="val 10465"/>
            </a:avLst>
          </a:prstGeom>
          <a:solidFill>
            <a:srgbClr val="E4F4EC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11680"/>
            <a:ext cx="512064" cy="51206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0116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1874520"/>
            <a:ext cx="4023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 laptop en el taller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60720" y="1874520"/>
            <a:ext cx="48764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Hoy. Recepción, técnico y jefe. Sin costos.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408615" y="2103120"/>
            <a:ext cx="914400" cy="329184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AHORA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770632"/>
            <a:ext cx="10911535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96112" y="2907792"/>
            <a:ext cx="512064" cy="51206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9077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2770632"/>
            <a:ext cx="4023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Varios equipos en el taller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60720" y="2770632"/>
            <a:ext cx="48764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acceden por la red local (WiFi).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666744"/>
            <a:ext cx="10911535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96112" y="3803904"/>
            <a:ext cx="512064" cy="51206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38039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45920" y="3666744"/>
            <a:ext cx="4023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instalable (PWA)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60720" y="3666744"/>
            <a:ext cx="48764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celular, tablet y PC. Sin Play Store.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4562856"/>
            <a:ext cx="10911535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96112" y="4700016"/>
            <a:ext cx="512064" cy="51206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47000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45920" y="4562856"/>
            <a:ext cx="4023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Vender a otros talleres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60720" y="4562856"/>
            <a:ext cx="48764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sistema para muchos talleres — un producto.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" y="5458968"/>
            <a:ext cx="10911535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96112" y="5596128"/>
            <a:ext cx="512064" cy="51206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896112" y="5596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645920" y="5458968"/>
            <a:ext cx="4023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Plataforma en la nube (SaaS)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760720" y="5458968"/>
            <a:ext cx="48764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Varios talleres, pago mensual.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Market · Servicio Técnico Digital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8585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DECISIÓN CLAVE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Preparado para muchos talleres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8463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670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05840" y="2606040"/>
            <a:ext cx="41148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260604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005840" y="3209544"/>
            <a:ext cx="41148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320954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1005840" y="3813048"/>
            <a:ext cx="41148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381304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reparación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486400" y="30175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6400800" y="1920240"/>
            <a:ext cx="5120640" cy="2743200"/>
          </a:xfrm>
          <a:prstGeom prst="roundRect">
            <a:avLst>
              <a:gd name="adj" fmla="val 4000"/>
            </a:avLst>
          </a:prstGeom>
          <a:solidFill>
            <a:srgbClr val="E4F4EC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MAÑANA · MULTI-TALLER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66560" y="2606040"/>
            <a:ext cx="4480560" cy="475488"/>
          </a:xfrm>
          <a:prstGeom prst="roundRect">
            <a:avLst>
              <a:gd name="adj" fmla="val 15385"/>
            </a:avLst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0" y="260604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(cada taller)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315200" y="320040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315200" y="365760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· Órdenes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315200" y="411480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· Pagos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4983480"/>
            <a:ext cx="10911535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983480"/>
            <a:ext cx="101800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taller tiene su companyId. </a:t>
            </a:r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misma app puede atender muchos talleres.  </a:t>
            </a:r>
            <a:pPr indent="0" marL="0">
              <a:buNone/>
            </a:pPr>
            <a:r>
              <a:rPr lang="en-US" sz="13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Planificado y documentado — todavía no construido (no se necesita aún).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Market · Servicio Técnico Digital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HOJA DE RUTA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Qué sigue después de la presentación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79192" cy="3657600"/>
          </a:xfrm>
          <a:prstGeom prst="roundRect">
            <a:avLst>
              <a:gd name="adj" fmla="val 4096"/>
            </a:avLst>
          </a:prstGeom>
          <a:solidFill>
            <a:srgbClr val="E4F4EC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20240"/>
            <a:ext cx="2679192" cy="868680"/>
          </a:xfrm>
          <a:prstGeom prst="roundRect">
            <a:avLst>
              <a:gd name="adj" fmla="val 12632"/>
            </a:avLst>
          </a:prstGeom>
          <a:solidFill>
            <a:srgbClr val="059669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423160"/>
            <a:ext cx="2679192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66544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43230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D6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96112" y="3063240"/>
            <a:ext cx="22219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de orden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y QR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de comprobante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y pagos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575304" y="1920240"/>
            <a:ext cx="2679192" cy="365760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75304" y="1920240"/>
            <a:ext cx="2679192" cy="868680"/>
          </a:xfrm>
          <a:prstGeom prst="roundRect">
            <a:avLst>
              <a:gd name="adj" fmla="val 12632"/>
            </a:avLst>
          </a:prstGeom>
          <a:solidFill>
            <a:srgbClr val="16213A"/>
          </a:solidFill>
          <a:ln/>
        </p:spPr>
      </p:sp>
      <p:sp>
        <p:nvSpPr>
          <p:cNvPr id="12" name="Shape 10"/>
          <p:cNvSpPr/>
          <p:nvPr/>
        </p:nvSpPr>
        <p:spPr>
          <a:xfrm>
            <a:off x="3575304" y="2423160"/>
            <a:ext cx="2679192" cy="365760"/>
          </a:xfrm>
          <a:prstGeom prst="rect">
            <a:avLst/>
          </a:prstGeom>
          <a:solidFill>
            <a:srgbClr val="16213A"/>
          </a:solidFill>
          <a:ln/>
        </p:spPr>
      </p:sp>
      <p:sp>
        <p:nvSpPr>
          <p:cNvPr id="13" name="Text 11"/>
          <p:cNvSpPr/>
          <p:nvPr/>
        </p:nvSpPr>
        <p:spPr>
          <a:xfrm>
            <a:off x="3803904" y="2066544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803904" y="243230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831336" y="3063240"/>
            <a:ext cx="22219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inventario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por fecha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Restaurar respaldo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10528" y="1920240"/>
            <a:ext cx="2679192" cy="365760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10528" y="1920240"/>
            <a:ext cx="2679192" cy="868680"/>
          </a:xfrm>
          <a:prstGeom prst="roundRect">
            <a:avLst>
              <a:gd name="adj" fmla="val 12632"/>
            </a:avLst>
          </a:prstGeom>
          <a:solidFill>
            <a:srgbClr val="16213A"/>
          </a:solidFill>
          <a:ln/>
        </p:spPr>
      </p:sp>
      <p:sp>
        <p:nvSpPr>
          <p:cNvPr id="18" name="Shape 16"/>
          <p:cNvSpPr/>
          <p:nvPr/>
        </p:nvSpPr>
        <p:spPr>
          <a:xfrm>
            <a:off x="6510528" y="2423160"/>
            <a:ext cx="2679192" cy="365760"/>
          </a:xfrm>
          <a:prstGeom prst="rect">
            <a:avLst/>
          </a:prstGeom>
          <a:solidFill>
            <a:srgbClr val="16213A"/>
          </a:solidFill>
          <a:ln/>
        </p:spPr>
      </p:sp>
      <p:sp>
        <p:nvSpPr>
          <p:cNvPr id="19" name="Text 17"/>
          <p:cNvSpPr/>
          <p:nvPr/>
        </p:nvSpPr>
        <p:spPr>
          <a:xfrm>
            <a:off x="6739128" y="2066544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39128" y="243230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766560" y="3063240"/>
            <a:ext cx="22219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sesión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de usuario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Varios usuarios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445752" y="1920240"/>
            <a:ext cx="2679192" cy="365760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445752" y="1920240"/>
            <a:ext cx="2679192" cy="868680"/>
          </a:xfrm>
          <a:prstGeom prst="roundRect">
            <a:avLst>
              <a:gd name="adj" fmla="val 12632"/>
            </a:avLst>
          </a:prstGeom>
          <a:solidFill>
            <a:srgbClr val="16213A"/>
          </a:solidFill>
          <a:ln/>
        </p:spPr>
      </p:sp>
      <p:sp>
        <p:nvSpPr>
          <p:cNvPr id="24" name="Shape 22"/>
          <p:cNvSpPr/>
          <p:nvPr/>
        </p:nvSpPr>
        <p:spPr>
          <a:xfrm>
            <a:off x="9445752" y="2423160"/>
            <a:ext cx="2679192" cy="365760"/>
          </a:xfrm>
          <a:prstGeom prst="rect">
            <a:avLst/>
          </a:prstGeom>
          <a:solidFill>
            <a:srgbClr val="16213A"/>
          </a:solidFill>
          <a:ln/>
        </p:spPr>
      </p:sp>
      <p:sp>
        <p:nvSpPr>
          <p:cNvPr id="25" name="Text 23"/>
          <p:cNvSpPr/>
          <p:nvPr/>
        </p:nvSpPr>
        <p:spPr>
          <a:xfrm>
            <a:off x="9674352" y="2066544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674352" y="243230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701784" y="3063240"/>
            <a:ext cx="22219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en la nube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Varias sucursales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Market · Servicio Técnico Digital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585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ENFOQUE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que NO hicimos (a propósito)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029968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187452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sesión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91072" y="1874520"/>
            <a:ext cx="52578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2029968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49440" y="187452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40080" y="2587752"/>
            <a:ext cx="52578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743200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98448" y="2587752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291072" y="2587752"/>
            <a:ext cx="52578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2743200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949440" y="2587752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Nube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640080" y="3300984"/>
            <a:ext cx="52578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3456432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98448" y="3300984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6291072" y="3300984"/>
            <a:ext cx="52578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7104" y="3456432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949440" y="3300984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Varias sucursales</a:t>
            </a:r>
            <a:endParaRPr lang="en-US" sz="1400" dirty="0"/>
          </a:p>
        </p:txBody>
      </p:sp>
      <p:sp>
        <p:nvSpPr>
          <p:cNvPr id="22" name="Shape 14"/>
          <p:cNvSpPr/>
          <p:nvPr/>
        </p:nvSpPr>
        <p:spPr>
          <a:xfrm>
            <a:off x="640080" y="4014216"/>
            <a:ext cx="52578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" y="4169664"/>
            <a:ext cx="256032" cy="25603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298448" y="4014216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total de inventario</a:t>
            </a:r>
            <a:endParaRPr lang="en-US" sz="1400" dirty="0"/>
          </a:p>
        </p:txBody>
      </p:sp>
      <p:sp>
        <p:nvSpPr>
          <p:cNvPr id="25" name="Shape 16"/>
          <p:cNvSpPr/>
          <p:nvPr/>
        </p:nvSpPr>
        <p:spPr>
          <a:xfrm>
            <a:off x="6291072" y="4014216"/>
            <a:ext cx="52578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7104" y="4169664"/>
            <a:ext cx="256032" cy="25603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949440" y="4014216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de SaaS</a:t>
            </a:r>
            <a:endParaRPr lang="en-US" sz="1400" dirty="0"/>
          </a:p>
        </p:txBody>
      </p:sp>
      <p:sp>
        <p:nvSpPr>
          <p:cNvPr id="28" name="Shape 18"/>
          <p:cNvSpPr/>
          <p:nvPr/>
        </p:nvSpPr>
        <p:spPr>
          <a:xfrm>
            <a:off x="640080" y="5029200"/>
            <a:ext cx="10911535" cy="868680"/>
          </a:xfrm>
          <a:prstGeom prst="roundRect">
            <a:avLst>
              <a:gd name="adj" fmla="val 10526"/>
            </a:avLst>
          </a:prstGeom>
          <a:solidFill>
            <a:srgbClr val="E4F4EC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29" name="Text 19"/>
          <p:cNvSpPr/>
          <p:nvPr/>
        </p:nvSpPr>
        <p:spPr>
          <a:xfrm>
            <a:off x="1005840" y="5029200"/>
            <a:ext cx="101800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Evitamos complejidad innecesaria.  </a:t>
            </a:r>
            <a:pPr indent="0" marL="0">
              <a:buNone/>
            </a:pPr>
            <a:r>
              <a:rPr lang="en-US" sz="15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el valor real para el taller; lo demás llega cuando se necesite.</a:t>
            </a:r>
            <a:endParaRPr lang="en-US" sz="1500" dirty="0"/>
          </a:p>
        </p:txBody>
      </p:sp>
      <p:sp>
        <p:nvSpPr>
          <p:cNvPr id="30" name="Text 20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Market · Servicio Técnico Digital</a:t>
            </a:r>
            <a:endParaRPr lang="en-US" sz="900" dirty="0"/>
          </a:p>
        </p:txBody>
      </p:sp>
      <p:sp>
        <p:nvSpPr>
          <p:cNvPr id="31" name="Text 21"/>
          <p:cNvSpPr/>
          <p:nvPr/>
        </p:nvSpPr>
        <p:spPr>
          <a:xfrm>
            <a:off x="1118585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BENEFICIOS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Valor para el negocio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658368" cy="658368"/>
          </a:xfrm>
          <a:prstGeom prst="ellipse">
            <a:avLst/>
          </a:prstGeom>
          <a:solidFill>
            <a:srgbClr val="E4F4E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408" y="2352568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17627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Digitalización total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737360" y="258775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papel, todo en un lugar.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07408" y="192024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81728" y="2194560"/>
            <a:ext cx="658368" cy="658368"/>
          </a:xfrm>
          <a:prstGeom prst="ellipse">
            <a:avLst/>
          </a:prstGeom>
          <a:solidFill>
            <a:srgbClr val="E4F4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9736" y="2352568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04688" y="217627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Trazabilidad completa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504688" y="258775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sabe qué pasó y cuándo.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74736" y="192024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9056" y="2194560"/>
            <a:ext cx="658368" cy="658368"/>
          </a:xfrm>
          <a:prstGeom prst="ellipse">
            <a:avLst/>
          </a:prstGeom>
          <a:solidFill>
            <a:srgbClr val="E4F4E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7064" y="2352568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72016" y="217627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Menos llamadas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9272016" y="258775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consulta en línea.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3483864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3758184"/>
            <a:ext cx="658368" cy="658368"/>
          </a:xfrm>
          <a:prstGeom prst="ellipse">
            <a:avLst/>
          </a:prstGeom>
          <a:solidFill>
            <a:srgbClr val="E4F4E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408" y="3916192"/>
            <a:ext cx="342351" cy="3423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373989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 de inventario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1737360" y="415137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y alertas de reabastecer.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407408" y="3483864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81728" y="3758184"/>
            <a:ext cx="658368" cy="658368"/>
          </a:xfrm>
          <a:prstGeom prst="ellipse">
            <a:avLst/>
          </a:prstGeom>
          <a:solidFill>
            <a:srgbClr val="E4F4E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9736" y="3916192"/>
            <a:ext cx="342351" cy="34235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04688" y="373989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Decisiones con datos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5504688" y="415137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y reparaciones a la vista.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74736" y="3483864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49056" y="3758184"/>
            <a:ext cx="658368" cy="658368"/>
          </a:xfrm>
          <a:prstGeom prst="ellipse">
            <a:avLst/>
          </a:prstGeom>
          <a:solidFill>
            <a:srgbClr val="E4F4EC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7064" y="3916192"/>
            <a:ext cx="342351" cy="34235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72016" y="373989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8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 costos mensuales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9272016" y="415137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en una sola laptop.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Market · Servicio Técnico Digital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18585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3108960"/>
            <a:ext cx="5943600" cy="5943600"/>
          </a:xfrm>
          <a:prstGeom prst="ellipse">
            <a:avLst/>
          </a:prstGeom>
          <a:solidFill>
            <a:srgbClr val="059669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868680"/>
            <a:ext cx="777240" cy="777240"/>
          </a:xfrm>
          <a:prstGeom prst="roundRect">
            <a:avLst>
              <a:gd name="adj" fmla="val 17647"/>
            </a:avLst>
          </a:prstGeom>
          <a:solidFill>
            <a:srgbClr val="05966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088136"/>
            <a:ext cx="338328" cy="3383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01168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proyecto académico a producto real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640080" y="3931920"/>
            <a:ext cx="3383280" cy="841248"/>
          </a:xfrm>
          <a:prstGeom prst="roundRect">
            <a:avLst>
              <a:gd name="adj" fmla="val 13043"/>
            </a:avLst>
          </a:prstGeom>
          <a:solidFill>
            <a:srgbClr val="16213A"/>
          </a:solidFill>
          <a:ln w="12700">
            <a:solidFill>
              <a:srgbClr val="2A385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96112" y="4169664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8" name="Text 5"/>
          <p:cNvSpPr/>
          <p:nvPr/>
        </p:nvSpPr>
        <p:spPr>
          <a:xfrm>
            <a:off x="896112" y="4169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17320" y="3931920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Iniciar la demo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4297680" y="3931920"/>
            <a:ext cx="3383280" cy="841248"/>
          </a:xfrm>
          <a:prstGeom prst="roundRect">
            <a:avLst>
              <a:gd name="adj" fmla="val 13043"/>
            </a:avLst>
          </a:prstGeom>
          <a:solidFill>
            <a:srgbClr val="16213A"/>
          </a:solidFill>
          <a:ln w="12700">
            <a:solidFill>
              <a:srgbClr val="2A385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53712" y="4169664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2" name="Text 9"/>
          <p:cNvSpPr/>
          <p:nvPr/>
        </p:nvSpPr>
        <p:spPr>
          <a:xfrm>
            <a:off x="4553712" y="4169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074920" y="3931920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Mostrar el flujo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7955280" y="3931920"/>
            <a:ext cx="3383280" cy="841248"/>
          </a:xfrm>
          <a:prstGeom prst="roundRect">
            <a:avLst>
              <a:gd name="adj" fmla="val 13043"/>
            </a:avLst>
          </a:prstGeom>
          <a:solidFill>
            <a:srgbClr val="16213A"/>
          </a:solidFill>
          <a:ln w="12700">
            <a:solidFill>
              <a:srgbClr val="2A385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11312" y="4169664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6" name="Text 13"/>
          <p:cNvSpPr/>
          <p:nvPr/>
        </p:nvSpPr>
        <p:spPr>
          <a:xfrm>
            <a:off x="8211312" y="4169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732520" y="3931920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Responder preguntas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640080" y="5212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sin internet  ·  en una sola laptop  ·  listo para presentar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40080" y="57150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¡Gracias!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Market · Servicio Técnico Digital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18585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Android Market – Servicio Técnico Digital</dc:title>
  <dc:subject>PptxGenJS Presentation</dc:subject>
  <dc:creator>Android Market</dc:creator>
  <cp:lastModifiedBy>Android Market</cp:lastModifiedBy>
  <cp:revision>1</cp:revision>
  <dcterms:created xsi:type="dcterms:W3CDTF">2026-06-09T02:18:42Z</dcterms:created>
  <dcterms:modified xsi:type="dcterms:W3CDTF">2026-06-09T02:18:42Z</dcterms:modified>
</cp:coreProperties>
</file>