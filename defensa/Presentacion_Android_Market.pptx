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8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2377440"/>
            <a:ext cx="6858000" cy="6858000"/>
          </a:xfrm>
          <a:prstGeom prst="ellipse">
            <a:avLst/>
          </a:prstGeom>
          <a:solidFill>
            <a:srgbClr val="1C3A52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417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E6E64"/>
                </a:solidFill>
              </a:rPr>
              <a:t>PROYECTO FINAL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7556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C7CF"/>
                </a:solidFill>
              </a:rPr>
              <a:t>Tecnología de la Información II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24688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 Market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77240" y="342900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0E6E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 de Información para la Gestión de Servicios Técnicos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95528" y="4526280"/>
            <a:ext cx="3017520" cy="0"/>
          </a:xfrm>
          <a:prstGeom prst="line">
            <a:avLst/>
          </a:prstGeom>
          <a:noFill/>
          <a:ln w="19050">
            <a:solidFill>
              <a:srgbClr val="3A546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1BB"/>
                </a:solidFill>
              </a:rPr>
              <a:t>Servicio técnico de celulares · Rurrenabaque, Beni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55321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DA0AB"/>
                </a:solidFill>
              </a:rPr>
              <a:t>Carlos Paz Maita  ·  Noe Miguel Flores Mamani  ·  Esequiel Mike Flores Mamani
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DA0AB"/>
                </a:solidFill>
              </a:rPr>
              <a:t>Yeis Lucía Dayana Chipunavi  ·  Daniel Gómez Choque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77240" y="62636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828D"/>
                </a:solidFill>
              </a:rPr>
              <a:t>Docente: Ing. Cecilia Elsa Choque Berdeja  ·  UMSA Caranavi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64"/>
                </a:solidFill>
              </a:rPr>
              <a:t>CONTEXTO DEL NEGOCIO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4980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caso real de servicio técnico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13283C"/>
                </a:solidFill>
              </a:rPr>
              <a:t>Android Market</a:t>
            </a:r>
            <a:pPr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2B3640"/>
                </a:solidFill>
              </a:rPr>
              <a:t> es un taller dedicado a la reparación de celulares, venta de repuestos y accesorios. Inició en 2015 con dos personas atendiendo en el Mercado Central de Rurrenabaque y, con el crecimiento de su clientela, se trasladó a un local propio sobre la calle Beni.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777240" y="3291840"/>
            <a:ext cx="6035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2B3640"/>
                </a:solidFill>
              </a:rPr>
              <a:t>Sus servicios incluyen diagnóstico, cambio de pantalla y batería, reparación de pin de carga, limpieza interna, revisión de software y reemplazo de piezas. El crecimiento del taller hizo cada vez más difícil llevar el control del área técnica de forma manual.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777240" y="49834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0A554D"/>
                </a:solidFill>
              </a:rPr>
              <a:t>Este proyecto se centra exclusivamente en el área de servicio técnico, separándola de la venta de teléfonos.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406640" y="1691640"/>
            <a:ext cx="4005072" cy="4206240"/>
          </a:xfrm>
          <a:prstGeom prst="roundRect">
            <a:avLst>
              <a:gd name="adj" fmla="val 1370"/>
            </a:avLst>
          </a:prstGeom>
          <a:solidFill>
            <a:srgbClr val="F2F5F6"/>
          </a:solidFill>
          <a:ln w="12700">
            <a:solidFill>
              <a:srgbClr val="D3DBD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680960" y="19385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6E64"/>
                </a:solidFill>
              </a:rPr>
              <a:t>FICHA DEL NEGOCIO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680960" y="239572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884"/>
                </a:solidFill>
              </a:rPr>
              <a:t>Rubro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680960" y="261518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83C"/>
                </a:solidFill>
              </a:rPr>
              <a:t>Servicio técnico de celulares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680960" y="2912364"/>
            <a:ext cx="3456432" cy="0"/>
          </a:xfrm>
          <a:prstGeom prst="line">
            <a:avLst/>
          </a:prstGeom>
          <a:noFill/>
          <a:ln w="12700">
            <a:solidFill>
              <a:srgbClr val="D3DBD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0" y="2976372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884"/>
                </a:solidFill>
              </a:rPr>
              <a:t>Ubicación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680960" y="31958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83C"/>
                </a:solidFill>
              </a:rPr>
              <a:t>Rurrenabaque, Beni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680960" y="3493008"/>
            <a:ext cx="3456432" cy="0"/>
          </a:xfrm>
          <a:prstGeom prst="line">
            <a:avLst/>
          </a:prstGeom>
          <a:noFill/>
          <a:ln w="12700">
            <a:solidFill>
              <a:srgbClr val="D3DBD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80960" y="3557016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884"/>
                </a:solidFill>
              </a:rPr>
              <a:t>Inicio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680960" y="37764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83C"/>
                </a:solidFill>
              </a:rPr>
              <a:t>Marzo de 2015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680960" y="4073652"/>
            <a:ext cx="3456432" cy="0"/>
          </a:xfrm>
          <a:prstGeom prst="line">
            <a:avLst/>
          </a:prstGeom>
          <a:noFill/>
          <a:ln w="12700">
            <a:solidFill>
              <a:srgbClr val="D3DBD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80960" y="413766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884"/>
                </a:solidFill>
              </a:rPr>
              <a:t>Atención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680960" y="435711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83C"/>
                </a:solidFill>
              </a:rPr>
              <a:t>Lunes a domingo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680960" y="4654296"/>
            <a:ext cx="3456432" cy="0"/>
          </a:xfrm>
          <a:prstGeom prst="line">
            <a:avLst/>
          </a:prstGeom>
          <a:noFill/>
          <a:ln w="12700">
            <a:solidFill>
              <a:srgbClr val="D3DBD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0" y="471830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884"/>
                </a:solidFill>
              </a:rPr>
              <a:t>Movimiento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680960" y="49377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83C"/>
                </a:solidFill>
              </a:rPr>
              <a:t>≈ 10.000 Bs / mes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680960" y="5234940"/>
            <a:ext cx="3456432" cy="0"/>
          </a:xfrm>
          <a:prstGeom prst="line">
            <a:avLst/>
          </a:prstGeom>
          <a:noFill/>
          <a:ln w="12700">
            <a:solidFill>
              <a:srgbClr val="D3DBD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80960" y="529894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884"/>
                </a:solidFill>
              </a:rPr>
              <a:t>Foco del proyecto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680960" y="55184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83C"/>
                </a:solidFill>
              </a:rPr>
              <a:t>Área técnica (reparaciones)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772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Android Market · Sistema de Información para Servicios Técnicos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332720" y="643737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02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64"/>
                </a:solidFill>
              </a:rPr>
              <a:t>PLANTEAMIENTO DEL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4980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Información dispersa, sin seguimiento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5212080" cy="4206240"/>
          </a:xfrm>
          <a:prstGeom prst="roundRect">
            <a:avLst>
              <a:gd name="adj" fmla="val 1304"/>
            </a:avLst>
          </a:prstGeom>
          <a:solidFill>
            <a:srgbClr val="F2F5F6"/>
          </a:solidFill>
          <a:ln w="12700">
            <a:solidFill>
              <a:srgbClr val="D3DBD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51560" y="2011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884"/>
                </a:solidFill>
              </a:rPr>
              <a:t>CÓMO SE REGISTRABA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51560" y="2560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6E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54480" y="2523744"/>
            <a:ext cx="4160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3283C"/>
                </a:solidFill>
              </a:rPr>
              <a:t>Cuadernos y hojas sueltas
</a:t>
            </a:r>
            <a:pPr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6B7884"/>
                </a:solidFill>
              </a:rPr>
              <a:t>se pierden o se deterioran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6E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3621024"/>
            <a:ext cx="4160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3283C"/>
                </a:solidFill>
              </a:rPr>
              <a:t>Mensajes de WhatsApp
</a:t>
            </a:r>
            <a:pPr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6B7884"/>
                </a:solidFill>
              </a:rPr>
              <a:t>acuerdos que no quedan documentados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51560" y="4754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6E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4718304"/>
            <a:ext cx="4160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3283C"/>
                </a:solidFill>
              </a:rPr>
              <a:t>La memoria del encargado
</a:t>
            </a:r>
            <a:pPr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6B7884"/>
                </a:solidFill>
              </a:rPr>
              <a:t>nadie más conoce el estado de un equipo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053328" y="36576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884"/>
                </a:solidFill>
              </a:rPr>
              <a:t>deriva en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80760" y="4069080"/>
            <a:ext cx="841248" cy="0"/>
          </a:xfrm>
          <a:prstGeom prst="line">
            <a:avLst/>
          </a:prstGeom>
          <a:noFill/>
          <a:ln w="25400">
            <a:solidFill>
              <a:srgbClr val="0E6E6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12280" y="4069080"/>
            <a:ext cx="118872" cy="-91440"/>
          </a:xfrm>
          <a:prstGeom prst="line">
            <a:avLst/>
          </a:prstGeom>
          <a:noFill/>
          <a:ln w="25400">
            <a:solidFill>
              <a:srgbClr val="0E6E6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12280" y="4069080"/>
            <a:ext cx="118872" cy="91440"/>
          </a:xfrm>
          <a:prstGeom prst="line">
            <a:avLst/>
          </a:prstGeom>
          <a:noFill/>
          <a:ln w="25400">
            <a:solidFill>
              <a:srgbClr val="0E6E6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86600" y="1783080"/>
            <a:ext cx="4325112" cy="4206240"/>
          </a:xfrm>
          <a:prstGeom prst="roundRect">
            <a:avLst>
              <a:gd name="adj" fmla="val 1304"/>
            </a:avLst>
          </a:prstGeom>
          <a:solidFill>
            <a:srgbClr val="13283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60920" y="20116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E6E64"/>
                </a:solidFill>
              </a:rPr>
              <a:t>CONSECUENCIAS PARA EL NEGOCIO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60920" y="2542032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E64"/>
                </a:solidFill>
              </a:rPr>
              <a:t>—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680960" y="2523744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AF0F2"/>
                </a:solidFill>
              </a:rPr>
              <a:t>No se sabe cuántos servicios se realizan por día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360920" y="321411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E64"/>
                </a:solidFill>
              </a:rPr>
              <a:t>—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680960" y="319582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AF0F2"/>
                </a:solidFill>
              </a:rPr>
              <a:t>Falta claridad sobre los repuestos consumidos en cada reparación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360920" y="38862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E64"/>
                </a:solidFill>
              </a:rPr>
              <a:t>—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80960" y="3867912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AF0F2"/>
                </a:solidFill>
              </a:rPr>
              <a:t>Confusión sobre qué equipos están pendientes de entrega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360920" y="455828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E64"/>
                </a:solidFill>
              </a:rPr>
              <a:t>—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680960" y="4539996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AF0F2"/>
                </a:solidFill>
              </a:rPr>
              <a:t>No queda registro de qué técnico atendió cada equipo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360920" y="523036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E64"/>
                </a:solidFill>
              </a:rPr>
              <a:t>—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680960" y="52120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AF0F2"/>
                </a:solidFill>
              </a:rPr>
              <a:t>Las decisiones se toman sin datos confiables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7772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Android Market · Sistema de Información para Servicios Técnicos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332720" y="643737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03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64"/>
                </a:solidFill>
              </a:rPr>
              <a:t>PREGUNTA Y OBJETIVOS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4980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busca resolver el proyecto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34472" cy="1371600"/>
          </a:xfrm>
          <a:prstGeom prst="roundRect">
            <a:avLst>
              <a:gd name="adj" fmla="val 4000"/>
            </a:avLst>
          </a:prstGeom>
          <a:solidFill>
            <a:srgbClr val="F2F5F6"/>
          </a:solidFill>
          <a:ln w="12700">
            <a:solidFill>
              <a:srgbClr val="D3DBD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69848" y="193852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E6E64"/>
                </a:solidFill>
              </a:rPr>
              <a:t>PREGUNTA DE INVESTIGACIÓN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69848" y="2249424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¿De qué manera mejorar la gestión de servicios técnicos, clientes e inventario de repuestos del taller Android Market en Rurrenabaque?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338328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6B7884"/>
                </a:solidFill>
              </a:rPr>
              <a:t>OBJETIVO GENERAL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77240" y="3675888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B3640"/>
                </a:solidFill>
              </a:rPr>
              <a:t>Diseñar un sistema de información para gestionar servicios técnicos, clientes e inventario de repuestos, mejorando el control operativo y la calidad de atención al cliente.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77240" y="452628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6B7884"/>
                </a:solidFill>
              </a:rPr>
              <a:t>OBJETIVOS ESPECÍFICOS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77240" y="48646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E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486460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640"/>
                </a:solidFill>
              </a:rPr>
              <a:t>Modelar la información del proceso: clientes, equipos, técnicos, órdenes, diagnósticos, repuestos y pagos.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5321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E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88720" y="532180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640"/>
                </a:solidFill>
              </a:rPr>
              <a:t>Definir un flujo de trabajo para registrar, seguir y cerrar cada reparación.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" y="5779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E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577900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640"/>
                </a:solidFill>
              </a:rPr>
              <a:t>Plantear reportes que muestren servicios solicitados, repuestos usados e ingresos por reparación.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72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Android Market · Sistema de Información para Servicios Técnicos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332720" y="643737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04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64"/>
                </a:solidFill>
              </a:rPr>
              <a:t>ALCANCE Y LÍMITES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4980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cubre el sistema y qué queda fuera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5212080" cy="4160520"/>
          </a:xfrm>
          <a:prstGeom prst="roundRect">
            <a:avLst>
              <a:gd name="adj" fmla="val 1319"/>
            </a:avLst>
          </a:prstGeom>
          <a:solidFill>
            <a:srgbClr val="F2F5F6"/>
          </a:solidFill>
          <a:ln w="12700">
            <a:solidFill>
              <a:srgbClr val="D3DBD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51560" y="2011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E6E64"/>
                </a:solidFill>
              </a:rPr>
              <a:t>EL SISTEMA ABARCA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51560" y="248716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E64"/>
                </a:solidFill>
              </a:rPr>
              <a:t>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44168" y="246888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2B3640"/>
                </a:solidFill>
              </a:rPr>
              <a:t>Registro de clientes, equipos y técnicos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3049524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E64"/>
                </a:solidFill>
              </a:rPr>
              <a:t>✓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44168" y="3031236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2B3640"/>
                </a:solidFill>
              </a:rPr>
              <a:t>Órdenes de servicio con estados (recibido, en reparación, listo, entregado)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6118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E64"/>
                </a:solidFill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44168" y="3593592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2B3640"/>
                </a:solidFill>
              </a:rPr>
              <a:t>Diagnóstico y trabajo realizado por orden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51560" y="41742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E64"/>
                </a:solidFill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44168" y="4155948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2B3640"/>
                </a:solidFill>
              </a:rPr>
              <a:t>Control de repuestos y actualización de stock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51560" y="4736592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E64"/>
                </a:solidFill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344168" y="4718304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2B3640"/>
                </a:solidFill>
              </a:rPr>
              <a:t>Pagos por reparación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51560" y="529894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E64"/>
                </a:solidFill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44168" y="528066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2B3640"/>
                </a:solidFill>
              </a:rPr>
              <a:t>Reportes diarios, semanales y mensuales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99632" y="1783080"/>
            <a:ext cx="52120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2700">
            <a:solidFill>
              <a:srgbClr val="D3DBD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73952" y="2011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B7884"/>
                </a:solidFill>
              </a:rPr>
              <a:t>FUERA DE ALCANCE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248716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884"/>
                </a:solidFill>
              </a:rPr>
              <a:t>—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784848" y="2468880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2B3640"/>
                </a:solidFill>
              </a:rPr>
              <a:t>Facturación electrónica e integración con Impuestos Nacionales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73952" y="32186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884"/>
                </a:solidFill>
              </a:rPr>
              <a:t>—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84848" y="3200400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2B3640"/>
                </a:solidFill>
              </a:rPr>
              <a:t>Contabilidad general, balances y estados financieros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73952" y="395020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884"/>
                </a:solidFill>
              </a:rPr>
              <a:t>—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784848" y="3931920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2B3640"/>
                </a:solidFill>
              </a:rPr>
              <a:t>Planillas de sueldos y gestión de personal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73952" y="468172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884"/>
                </a:solidFill>
              </a:rPr>
              <a:t>—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784848" y="4663440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2B3640"/>
                </a:solidFill>
              </a:rPr>
              <a:t>Venta de teléfonos (se trata en un documento aparte)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73952" y="539496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0A554D"/>
                </a:solidFill>
              </a:rPr>
              <a:t>Delimitar el alcance es parte del diseño: un sistema enfocado se implementa y se mantiene mejor que uno que intenta abarcarlo todo.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772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Android Market · Sistema de Información para Servicios Técnicos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332720" y="643737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05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64"/>
                </a:solidFill>
              </a:rPr>
              <a:t>MARCO CONCEPTUAL · 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4980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es un Sistema de Información?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2743200" cy="1051560"/>
          </a:xfrm>
          <a:prstGeom prst="roundRect">
            <a:avLst>
              <a:gd name="adj" fmla="val 5217"/>
            </a:avLst>
          </a:prstGeom>
          <a:solidFill>
            <a:srgbClr val="F2F5F6"/>
          </a:solidFill>
          <a:ln w="12700">
            <a:solidFill>
              <a:srgbClr val="D3DB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0116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D3D"/>
                </a:solidFill>
              </a:rPr>
              <a:t>DATOS</a:t>
            </a:r>
          </a:p>
          <a:p>
            <a:pPr algn="ctr" indent="0" marL="0">
              <a:buNone/>
            </a:pPr>
            <a:r>
              <a:rPr lang="en-US" sz="1200" dirty="0">
                <a:solidFill>
                  <a:srgbClr val="6B7884"/>
                </a:solidFill>
              </a:rPr>
              <a:t>registros aislados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566160" y="199339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E6E64"/>
                </a:solidFill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251960" y="1783080"/>
            <a:ext cx="2743200" cy="1051560"/>
          </a:xfrm>
          <a:prstGeom prst="roundRect">
            <a:avLst>
              <a:gd name="adj" fmla="val 5217"/>
            </a:avLst>
          </a:prstGeom>
          <a:solidFill>
            <a:srgbClr val="0E6E64"/>
          </a:solidFill>
          <a:ln/>
        </p:spPr>
      </p:sp>
      <p:sp>
        <p:nvSpPr>
          <p:cNvPr id="8" name="Text 6"/>
          <p:cNvSpPr/>
          <p:nvPr/>
        </p:nvSpPr>
        <p:spPr>
          <a:xfrm>
            <a:off x="4251960" y="20116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INFORMACIÓN</a:t>
            </a:r>
          </a:p>
          <a:p>
            <a:pPr algn="ctr" indent="0" marL="0">
              <a:buNone/>
            </a:pPr>
            <a:r>
              <a:rPr lang="en-US" sz="1200" dirty="0">
                <a:solidFill>
                  <a:srgbClr val="DCEBE9"/>
                </a:solidFill>
              </a:rPr>
              <a:t>datos organizados para decidir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52360" y="1737360"/>
            <a:ext cx="3977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i="1" dirty="0">
                <a:solidFill>
                  <a:srgbClr val="2B3640"/>
                </a:solidFill>
              </a:rPr>
              <a:t>Un conjunto de componentes interrelacionados que recolectan, procesan, almacenan y distribuyen información para apoyar la toma de decisiones y el control en una organización.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452360" y="30175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884"/>
                </a:solidFill>
              </a:rPr>
              <a:t>Laudon &amp; Laudon (2020)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338328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B7884"/>
                </a:solidFill>
              </a:rPr>
              <a:t>CUATRO COMPONENTES QUE INTEGRA EL SISTEMA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77240" y="3749040"/>
            <a:ext cx="2452878" cy="1783080"/>
          </a:xfrm>
          <a:prstGeom prst="roundRect">
            <a:avLst>
              <a:gd name="adj" fmla="val 3077"/>
            </a:avLst>
          </a:prstGeom>
          <a:solidFill>
            <a:srgbClr val="F2F5F6"/>
          </a:solidFill>
          <a:ln w="12700">
            <a:solidFill>
              <a:srgbClr val="D3DBD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033272" y="3995928"/>
            <a:ext cx="457200" cy="457200"/>
          </a:xfrm>
          <a:prstGeom prst="ellipse">
            <a:avLst/>
          </a:prstGeom>
          <a:solidFill>
            <a:srgbClr val="13283C"/>
          </a:solidFill>
          <a:ln/>
        </p:spPr>
      </p:sp>
      <p:sp>
        <p:nvSpPr>
          <p:cNvPr id="14" name="Text 12"/>
          <p:cNvSpPr/>
          <p:nvPr/>
        </p:nvSpPr>
        <p:spPr>
          <a:xfrm>
            <a:off x="1033272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33272" y="4572000"/>
            <a:ext cx="19956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Personas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33272" y="4937760"/>
            <a:ext cx="19956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B7884"/>
                </a:solidFill>
              </a:rPr>
              <a:t>Técnicos y encargado que operan el sistema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504438" y="3749040"/>
            <a:ext cx="2452878" cy="1783080"/>
          </a:xfrm>
          <a:prstGeom prst="roundRect">
            <a:avLst>
              <a:gd name="adj" fmla="val 3077"/>
            </a:avLst>
          </a:prstGeom>
          <a:solidFill>
            <a:srgbClr val="F2F5F6"/>
          </a:solidFill>
          <a:ln w="12700">
            <a:solidFill>
              <a:srgbClr val="D3DBD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760470" y="3995928"/>
            <a:ext cx="457200" cy="457200"/>
          </a:xfrm>
          <a:prstGeom prst="ellipse">
            <a:avLst/>
          </a:prstGeom>
          <a:solidFill>
            <a:srgbClr val="13283C"/>
          </a:solidFill>
          <a:ln/>
        </p:spPr>
      </p:sp>
      <p:sp>
        <p:nvSpPr>
          <p:cNvPr id="19" name="Text 17"/>
          <p:cNvSpPr/>
          <p:nvPr/>
        </p:nvSpPr>
        <p:spPr>
          <a:xfrm>
            <a:off x="376047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760470" y="4572000"/>
            <a:ext cx="19956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Procesos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760470" y="4937760"/>
            <a:ext cx="19956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B7884"/>
                </a:solidFill>
              </a:rPr>
              <a:t>Recepción, diagnóstico, reparación, pago y entrega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31636" y="3749040"/>
            <a:ext cx="2452878" cy="1783080"/>
          </a:xfrm>
          <a:prstGeom prst="roundRect">
            <a:avLst>
              <a:gd name="adj" fmla="val 3077"/>
            </a:avLst>
          </a:prstGeom>
          <a:solidFill>
            <a:srgbClr val="F2F5F6"/>
          </a:solidFill>
          <a:ln w="12700">
            <a:solidFill>
              <a:srgbClr val="D3DBD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87668" y="3995928"/>
            <a:ext cx="457200" cy="457200"/>
          </a:xfrm>
          <a:prstGeom prst="ellipse">
            <a:avLst/>
          </a:prstGeom>
          <a:solidFill>
            <a:srgbClr val="13283C"/>
          </a:solidFill>
          <a:ln/>
        </p:spPr>
      </p:sp>
      <p:sp>
        <p:nvSpPr>
          <p:cNvPr id="24" name="Text 22"/>
          <p:cNvSpPr/>
          <p:nvPr/>
        </p:nvSpPr>
        <p:spPr>
          <a:xfrm>
            <a:off x="6487668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87668" y="4572000"/>
            <a:ext cx="19956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87668" y="4937760"/>
            <a:ext cx="19956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B7884"/>
                </a:solidFill>
              </a:rPr>
              <a:t>Ocho entidades relacionadas del negocio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958834" y="3749040"/>
            <a:ext cx="2452878" cy="1783080"/>
          </a:xfrm>
          <a:prstGeom prst="roundRect">
            <a:avLst>
              <a:gd name="adj" fmla="val 3077"/>
            </a:avLst>
          </a:prstGeom>
          <a:solidFill>
            <a:srgbClr val="F2F5F6"/>
          </a:solidFill>
          <a:ln w="12700">
            <a:solidFill>
              <a:srgbClr val="D3DBD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214866" y="3995928"/>
            <a:ext cx="457200" cy="457200"/>
          </a:xfrm>
          <a:prstGeom prst="ellipse">
            <a:avLst/>
          </a:prstGeom>
          <a:solidFill>
            <a:srgbClr val="13283C"/>
          </a:solidFill>
          <a:ln/>
        </p:spPr>
      </p:sp>
      <p:sp>
        <p:nvSpPr>
          <p:cNvPr id="29" name="Text 27"/>
          <p:cNvSpPr/>
          <p:nvPr/>
        </p:nvSpPr>
        <p:spPr>
          <a:xfrm>
            <a:off x="9214866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14866" y="4572000"/>
            <a:ext cx="19956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Tecnología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214866" y="4937760"/>
            <a:ext cx="19956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B7884"/>
                </a:solidFill>
              </a:rPr>
              <a:t>El sistema funcional que las soporta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77240" y="571500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A554D"/>
                </a:solidFill>
              </a:rPr>
              <a:t>Por eso el proyecto es un Sistema de Información y no solo una base de datos: no almacena datos sueltos, integra personas, procesos, datos y tecnología.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7772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Android Market · Sistema de Información para Servicios Técnicos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332720" y="643737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06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64"/>
                </a:solidFill>
              </a:rPr>
              <a:t>MARCO CONCEPTUAL · II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4980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Modelado de datos: el Diagrama Entidad-Relación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7830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83C"/>
                </a:solidFill>
              </a:rPr>
              <a:t>Entidad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3337560" y="17830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3640"/>
                </a:solidFill>
              </a:rPr>
              <a:t>Un objeto del que se guarda información (Cliente, Equipo, Orden). En el sistema, cada entidad es una tabla.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2551176"/>
            <a:ext cx="7498080" cy="0"/>
          </a:xfrm>
          <a:prstGeom prst="line">
            <a:avLst/>
          </a:prstGeom>
          <a:noFill/>
          <a:ln w="12700">
            <a:solidFill>
              <a:srgbClr val="D3DB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2432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83C"/>
                </a:solidFill>
              </a:rPr>
              <a:t>Atributo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337560" y="2624328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3640"/>
                </a:solidFill>
              </a:rPr>
              <a:t>Una característica de la entidad (nombre del cliente, marca del equipo, fecha de la orden).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3392424"/>
            <a:ext cx="7498080" cy="0"/>
          </a:xfrm>
          <a:prstGeom prst="line">
            <a:avLst/>
          </a:prstGeom>
          <a:noFill/>
          <a:ln w="12700">
            <a:solidFill>
              <a:srgbClr val="D3DB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465576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83C"/>
                </a:solidFill>
              </a:rPr>
              <a:t>Llave primaria (PK)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337560" y="3465576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3640"/>
                </a:solidFill>
              </a:rPr>
              <a:t>Identifica de forma única cada registro; por ejemplo, ID_ORDEN. No se repite ni queda vacía.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77240" y="4233672"/>
            <a:ext cx="7498080" cy="0"/>
          </a:xfrm>
          <a:prstGeom prst="line">
            <a:avLst/>
          </a:prstGeom>
          <a:noFill/>
          <a:ln w="12700">
            <a:solidFill>
              <a:srgbClr val="D3DBD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306824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83C"/>
                </a:solidFill>
              </a:rPr>
              <a:t>Llave foránea (FK)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337560" y="4306824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3640"/>
                </a:solidFill>
              </a:rPr>
              <a:t>Conecta una tabla con otra; por ejemplo, el Diagnóstico guarda el ID_ORDEN y el ID_TECNICO.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7240" y="5074920"/>
            <a:ext cx="7498080" cy="0"/>
          </a:xfrm>
          <a:prstGeom prst="line">
            <a:avLst/>
          </a:prstGeom>
          <a:noFill/>
          <a:ln w="12700">
            <a:solidFill>
              <a:srgbClr val="D3DBD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14807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83C"/>
                </a:solidFill>
              </a:rPr>
              <a:t>Normalización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3337560" y="5148072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3640"/>
                </a:solidFill>
              </a:rPr>
              <a:t>Organizar los datos para evitar redundancia: cada dato vive en un solo lugar y las demás tablas lo referencian.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03920" y="1783080"/>
            <a:ext cx="2907792" cy="3931920"/>
          </a:xfrm>
          <a:prstGeom prst="roundRect">
            <a:avLst>
              <a:gd name="adj" fmla="val 1887"/>
            </a:avLst>
          </a:prstGeom>
          <a:solidFill>
            <a:srgbClr val="13283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732520" y="20116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E6E64"/>
                </a:solidFill>
              </a:rPr>
              <a:t>POR QUÉ IMPORTA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732520" y="2395728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AF0F2"/>
                </a:solidFill>
              </a:rPr>
              <a:t>Un buen modelo de datos garantiza la integridad y la trazabilidad de la información: cada reparación queda correctamente conectada con su cliente, su técnico, sus repuestos y su pago.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732520" y="4617720"/>
            <a:ext cx="2286000" cy="0"/>
          </a:xfrm>
          <a:prstGeom prst="line">
            <a:avLst/>
          </a:prstGeom>
          <a:noFill/>
          <a:ln w="12700">
            <a:solidFill>
              <a:srgbClr val="3A546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32520" y="4754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9FB1BB"/>
                </a:solidFill>
              </a:rPr>
              <a:t>Modelo Entidad-Relación propuesto por Peter Chen (1976).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772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Android Market · Sistema de Información para Servicios Técnicos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332720" y="643737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07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8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64"/>
                </a:solidFill>
              </a:rPr>
              <a:t>PROCESO DEL SERVICIO TÉCNICO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4980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flujo operativo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8132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9C7CF"/>
                </a:solidFill>
              </a:rPr>
              <a:t>Aquí está la diferencia del proyecto: un proceso de varios pasos con seguimiento, no una simple venta.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840687" y="2788920"/>
            <a:ext cx="8507578" cy="0"/>
          </a:xfrm>
          <a:prstGeom prst="line">
            <a:avLst/>
          </a:prstGeom>
          <a:noFill/>
          <a:ln w="25400">
            <a:solidFill>
              <a:srgbClr val="3A546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29791" y="2478024"/>
            <a:ext cx="621792" cy="621792"/>
          </a:xfrm>
          <a:prstGeom prst="ellipse">
            <a:avLst/>
          </a:prstGeom>
          <a:solidFill>
            <a:srgbClr val="0E6E64"/>
          </a:solidFill>
          <a:ln/>
        </p:spPr>
      </p:sp>
      <p:sp>
        <p:nvSpPr>
          <p:cNvPr id="7" name="Text 5"/>
          <p:cNvSpPr/>
          <p:nvPr/>
        </p:nvSpPr>
        <p:spPr>
          <a:xfrm>
            <a:off x="1529791" y="245973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68" dirty="0"/>
          </a:p>
        </p:txBody>
      </p:sp>
      <p:sp>
        <p:nvSpPr>
          <p:cNvPr id="8" name="Text 6"/>
          <p:cNvSpPr/>
          <p:nvPr/>
        </p:nvSpPr>
        <p:spPr>
          <a:xfrm>
            <a:off x="886968" y="3401568"/>
            <a:ext cx="19074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Recepción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3785616"/>
            <a:ext cx="176113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FC0C9"/>
                </a:solidFill>
              </a:rPr>
              <a:t>Se registra el cliente y el equipo; se abre la orden.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6686" y="2478024"/>
            <a:ext cx="621792" cy="621792"/>
          </a:xfrm>
          <a:prstGeom prst="ellipse">
            <a:avLst/>
          </a:prstGeom>
          <a:solidFill>
            <a:srgbClr val="0E6E64"/>
          </a:solidFill>
          <a:ln/>
        </p:spPr>
      </p:sp>
      <p:sp>
        <p:nvSpPr>
          <p:cNvPr id="11" name="Text 9"/>
          <p:cNvSpPr/>
          <p:nvPr/>
        </p:nvSpPr>
        <p:spPr>
          <a:xfrm>
            <a:off x="3656686" y="245973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68" dirty="0"/>
          </a:p>
        </p:txBody>
      </p:sp>
      <p:sp>
        <p:nvSpPr>
          <p:cNvPr id="12" name="Text 10"/>
          <p:cNvSpPr/>
          <p:nvPr/>
        </p:nvSpPr>
        <p:spPr>
          <a:xfrm>
            <a:off x="3013862" y="3401568"/>
            <a:ext cx="19074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Diagnóstico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087014" y="3785616"/>
            <a:ext cx="176113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FC0C9"/>
                </a:solidFill>
              </a:rPr>
              <a:t>El técnico revisa, define la falla y estima el costo.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783580" y="2478024"/>
            <a:ext cx="621792" cy="621792"/>
          </a:xfrm>
          <a:prstGeom prst="ellipse">
            <a:avLst/>
          </a:prstGeom>
          <a:solidFill>
            <a:srgbClr val="0E6E64"/>
          </a:solidFill>
          <a:ln/>
        </p:spPr>
      </p:sp>
      <p:sp>
        <p:nvSpPr>
          <p:cNvPr id="15" name="Text 13"/>
          <p:cNvSpPr/>
          <p:nvPr/>
        </p:nvSpPr>
        <p:spPr>
          <a:xfrm>
            <a:off x="5783580" y="245973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68" dirty="0"/>
          </a:p>
        </p:txBody>
      </p:sp>
      <p:sp>
        <p:nvSpPr>
          <p:cNvPr id="16" name="Text 14"/>
          <p:cNvSpPr/>
          <p:nvPr/>
        </p:nvSpPr>
        <p:spPr>
          <a:xfrm>
            <a:off x="5140757" y="3401568"/>
            <a:ext cx="19074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Reparación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213909" y="3785616"/>
            <a:ext cx="176113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FC0C9"/>
                </a:solidFill>
              </a:rPr>
              <a:t>Se ejecuta el trabajo y se descuentan los repuestos.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910474" y="2478024"/>
            <a:ext cx="621792" cy="621792"/>
          </a:xfrm>
          <a:prstGeom prst="ellipse">
            <a:avLst/>
          </a:prstGeom>
          <a:solidFill>
            <a:srgbClr val="0E6E64"/>
          </a:solidFill>
          <a:ln/>
        </p:spPr>
      </p:sp>
      <p:sp>
        <p:nvSpPr>
          <p:cNvPr id="19" name="Text 17"/>
          <p:cNvSpPr/>
          <p:nvPr/>
        </p:nvSpPr>
        <p:spPr>
          <a:xfrm>
            <a:off x="7910474" y="245973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68" dirty="0"/>
          </a:p>
        </p:txBody>
      </p:sp>
      <p:sp>
        <p:nvSpPr>
          <p:cNvPr id="20" name="Text 18"/>
          <p:cNvSpPr/>
          <p:nvPr/>
        </p:nvSpPr>
        <p:spPr>
          <a:xfrm>
            <a:off x="7267651" y="3401568"/>
            <a:ext cx="19074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340803" y="3785616"/>
            <a:ext cx="176113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FC0C9"/>
                </a:solidFill>
              </a:rPr>
              <a:t>Se cobra mano de obra más repuestos (efectivo o QR).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0037369" y="2478024"/>
            <a:ext cx="621792" cy="621792"/>
          </a:xfrm>
          <a:prstGeom prst="ellipse">
            <a:avLst/>
          </a:prstGeom>
          <a:solidFill>
            <a:srgbClr val="0E6E64"/>
          </a:solidFill>
          <a:ln/>
        </p:spPr>
      </p:sp>
      <p:sp>
        <p:nvSpPr>
          <p:cNvPr id="23" name="Text 21"/>
          <p:cNvSpPr/>
          <p:nvPr/>
        </p:nvSpPr>
        <p:spPr>
          <a:xfrm>
            <a:off x="10037369" y="245973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68" dirty="0"/>
          </a:p>
        </p:txBody>
      </p:sp>
      <p:sp>
        <p:nvSpPr>
          <p:cNvPr id="24" name="Text 22"/>
          <p:cNvSpPr/>
          <p:nvPr/>
        </p:nvSpPr>
        <p:spPr>
          <a:xfrm>
            <a:off x="9394546" y="3401568"/>
            <a:ext cx="19074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Entrega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467698" y="3785616"/>
            <a:ext cx="176113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FC0C9"/>
                </a:solidFill>
              </a:rPr>
              <a:t>Se cierra la orden y se entrega el equipo.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77240" y="5074920"/>
            <a:ext cx="10634472" cy="960120"/>
          </a:xfrm>
          <a:prstGeom prst="roundRect">
            <a:avLst>
              <a:gd name="adj" fmla="val 5714"/>
            </a:avLst>
          </a:prstGeom>
          <a:solidFill>
            <a:srgbClr val="1C3A52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97280" y="507492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En cada paso cambia el estado de la orden: 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E6E64"/>
                </a:solidFill>
              </a:rPr>
              <a:t>recibido → en diagnóstico → en reparación → listo → entregado.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C7D3D9"/>
                </a:solidFill>
              </a:rPr>
              <a:t>  Por eso el encargado puede informar al instante en qué punto está cada equipo.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772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E99"/>
                </a:solidFill>
              </a:rPr>
              <a:t>Android Market · Sistema de Información para Servicios Técnicos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332720" y="643737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E99"/>
                </a:solidFill>
              </a:rPr>
              <a:t>08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64"/>
                </a:solidFill>
              </a:rPr>
              <a:t>DISEÑO LÓGICO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4980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modelo de información — ocho entidades relacionadas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2286000" cy="1152144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783080"/>
            <a:ext cx="2286000" cy="365760"/>
          </a:xfrm>
          <a:prstGeom prst="rect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7830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CLIENTE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05256" y="2148840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B3640"/>
                </a:solidFill>
              </a:rPr>
              <a:t>ID_CLIENTE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04872" y="2148840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6E64"/>
                </a:solidFill>
              </a:rPr>
              <a:t>PK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05256" y="2395728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640"/>
                </a:solidFill>
              </a:rPr>
              <a:t>NOMBRE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05256" y="2642616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640"/>
                </a:solidFill>
              </a:rPr>
              <a:t>TELÉFONO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7240" y="4069080"/>
            <a:ext cx="2286000" cy="1152144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4069080"/>
            <a:ext cx="2286000" cy="365760"/>
          </a:xfrm>
          <a:prstGeom prst="rect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0690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EQUIPO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05256" y="4434840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B3640"/>
                </a:solidFill>
              </a:rPr>
              <a:t>ID_EQUIPO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404872" y="4434840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6E64"/>
                </a:solidFill>
              </a:rPr>
              <a:t>PK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05256" y="4681728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640"/>
                </a:solidFill>
              </a:rPr>
              <a:t>ID_CLIENTE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404872" y="4681728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884"/>
                </a:solidFill>
              </a:rPr>
              <a:t>FK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05256" y="4928616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640"/>
                </a:solidFill>
              </a:rPr>
              <a:t>MARCA / MODELO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0" y="2834640"/>
            <a:ext cx="2788920" cy="1399032"/>
          </a:xfrm>
          <a:prstGeom prst="rect">
            <a:avLst/>
          </a:prstGeom>
          <a:solidFill>
            <a:srgbClr val="FFFFFF"/>
          </a:solidFill>
          <a:ln w="22225">
            <a:solidFill>
              <a:srgbClr val="0E6E6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0" y="2834640"/>
            <a:ext cx="2788920" cy="365760"/>
          </a:xfrm>
          <a:prstGeom prst="rect">
            <a:avLst/>
          </a:prstGeom>
          <a:solidFill>
            <a:srgbClr val="0E6E64"/>
          </a:solidFill>
          <a:ln w="12700">
            <a:solidFill>
              <a:srgbClr val="0E6E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8346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ORDEN_SERVICIO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00016" y="3200400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B3640"/>
                </a:solidFill>
              </a:rPr>
              <a:t>ID_ORDEN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702552" y="3200400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6E64"/>
                </a:solidFill>
              </a:rPr>
              <a:t>PK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700016" y="3447288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640"/>
                </a:solidFill>
              </a:rPr>
              <a:t>ID_CLIENTE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702552" y="3447288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884"/>
                </a:solidFill>
              </a:rPr>
              <a:t>FK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700016" y="3694176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640"/>
                </a:solidFill>
              </a:rPr>
              <a:t>ID_EQUIPO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702552" y="3694176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884"/>
                </a:solidFill>
              </a:rPr>
              <a:t>FK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700016" y="3941064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640"/>
                </a:solidFill>
              </a:rPr>
              <a:t>ESTADO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800600" y="1783080"/>
            <a:ext cx="2331720" cy="905256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800600" y="1783080"/>
            <a:ext cx="2331720" cy="365760"/>
          </a:xfrm>
          <a:prstGeom prst="rect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92040" y="17830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TÉCNICO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928616" y="21488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B3640"/>
                </a:solidFill>
              </a:rPr>
              <a:t>ID_TECNICO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473952" y="2148840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6E64"/>
                </a:solidFill>
              </a:rPr>
              <a:t>PK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928616" y="2395728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640"/>
                </a:solidFill>
              </a:rPr>
              <a:t>NOMBRE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125712" y="1783080"/>
            <a:ext cx="2286000" cy="1152144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125712" y="1783080"/>
            <a:ext cx="2286000" cy="365760"/>
          </a:xfrm>
          <a:prstGeom prst="rect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217152" y="17830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DIAGNÓSTICO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9253728" y="2148840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B3640"/>
                </a:solidFill>
              </a:rPr>
              <a:t>ID_DIAGNOSTICO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10753344" y="2148840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6E64"/>
                </a:solidFill>
              </a:rPr>
              <a:t>PK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9253728" y="2395728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640"/>
                </a:solidFill>
              </a:rPr>
              <a:t>ID_ORDEN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10753344" y="2395728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884"/>
                </a:solidFill>
              </a:rPr>
              <a:t>FK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9253728" y="2642616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640"/>
                </a:solidFill>
              </a:rPr>
              <a:t>ID_TECNICO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10753344" y="2642616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884"/>
                </a:solidFill>
              </a:rPr>
              <a:t>FK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25712" y="3657600"/>
            <a:ext cx="2286000" cy="1152144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9125712" y="3657600"/>
            <a:ext cx="2286000" cy="365760"/>
          </a:xfrm>
          <a:prstGeom prst="rect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217152" y="3657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DETALLE_REPUESTO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9253728" y="4023360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B3640"/>
                </a:solidFill>
              </a:rPr>
              <a:t>ID_DETALLE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10753344" y="4023360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6E64"/>
                </a:solidFill>
              </a:rPr>
              <a:t>PK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9253728" y="4270248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640"/>
                </a:solidFill>
              </a:rPr>
              <a:t>ID_ORDEN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10753344" y="4270248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884"/>
                </a:solidFill>
              </a:rPr>
              <a:t>FK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9253728" y="4517136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640"/>
                </a:solidFill>
              </a:rPr>
              <a:t>ID_REPUESTO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10753344" y="4517136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884"/>
                </a:solidFill>
              </a:rPr>
              <a:t>FK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937760" y="5166360"/>
            <a:ext cx="2468880" cy="1152144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4937760" y="5166360"/>
            <a:ext cx="2468880" cy="365760"/>
          </a:xfrm>
          <a:prstGeom prst="rect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029200" y="5166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PAGO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5065776" y="5532120"/>
            <a:ext cx="1691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B3640"/>
                </a:solidFill>
              </a:rPr>
              <a:t>ID_PAGO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6748272" y="5532120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6E64"/>
                </a:solidFill>
              </a:rPr>
              <a:t>PK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5065776" y="5779008"/>
            <a:ext cx="1691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640"/>
                </a:solidFill>
              </a:rPr>
              <a:t>ID_ORDEN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6748272" y="5779008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884"/>
                </a:solidFill>
              </a:rPr>
              <a:t>FK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065776" y="6025896"/>
            <a:ext cx="1691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640"/>
                </a:solidFill>
              </a:rPr>
              <a:t>TOTAL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9125712" y="5440680"/>
            <a:ext cx="2286000" cy="905256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9125712" y="5440680"/>
            <a:ext cx="2286000" cy="365760"/>
          </a:xfrm>
          <a:prstGeom prst="rect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217152" y="5440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REPUESTO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9253728" y="5806440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B3640"/>
                </a:solidFill>
              </a:rPr>
              <a:t>ID_REPUESTO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10753344" y="5806440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6E64"/>
                </a:solidFill>
              </a:rPr>
              <a:t>PK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9253728" y="6053328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640"/>
                </a:solidFill>
              </a:rPr>
              <a:t>STOCK_ACTUAL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3063240" y="2359152"/>
            <a:ext cx="1508760" cy="900684"/>
          </a:xfrm>
          <a:prstGeom prst="line">
            <a:avLst/>
          </a:prstGeom>
          <a:noFill/>
          <a:ln w="19050">
            <a:solidFill>
              <a:srgbClr val="9AA8B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108960" y="2249424"/>
            <a:ext cx="2743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54D"/>
                </a:solidFill>
              </a:rPr>
              <a:t>1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251960" y="3131820"/>
            <a:ext cx="2743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54D"/>
                </a:solidFill>
              </a:rPr>
              <a:t>N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3063240" y="4645152"/>
            <a:ext cx="1508760" cy="-836676"/>
          </a:xfrm>
          <a:prstGeom prst="line">
            <a:avLst/>
          </a:prstGeom>
          <a:noFill/>
          <a:ln w="19050">
            <a:solidFill>
              <a:srgbClr val="9AA8B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108960" y="4535424"/>
            <a:ext cx="2743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54D"/>
                </a:solidFill>
              </a:rPr>
              <a:t>1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4251960" y="3717036"/>
            <a:ext cx="2743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54D"/>
                </a:solidFill>
              </a:rPr>
              <a:t>N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32320" y="2235708"/>
            <a:ext cx="1993392" cy="-13716"/>
          </a:xfrm>
          <a:prstGeom prst="line">
            <a:avLst/>
          </a:prstGeom>
          <a:noFill/>
          <a:ln w="19050">
            <a:solidFill>
              <a:srgbClr val="9AA8B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178040" y="2125980"/>
            <a:ext cx="2743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54D"/>
                </a:solidFill>
              </a:rPr>
              <a:t>1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8805672" y="2157984"/>
            <a:ext cx="2743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54D"/>
                </a:solidFill>
              </a:rPr>
              <a:t>N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7360920" y="3305556"/>
            <a:ext cx="1764792" cy="-763524"/>
          </a:xfrm>
          <a:prstGeom prst="line">
            <a:avLst/>
          </a:prstGeom>
          <a:noFill/>
          <a:ln w="19050">
            <a:solidFill>
              <a:srgbClr val="9AA8B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406640" y="3177540"/>
            <a:ext cx="2743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54D"/>
                </a:solidFill>
              </a:rPr>
              <a:t>1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8805672" y="2450592"/>
            <a:ext cx="2743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54D"/>
                </a:solidFill>
              </a:rPr>
              <a:t>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360920" y="3762756"/>
            <a:ext cx="1764792" cy="379476"/>
          </a:xfrm>
          <a:prstGeom prst="line">
            <a:avLst/>
          </a:prstGeom>
          <a:noFill/>
          <a:ln w="19050">
            <a:solidFill>
              <a:srgbClr val="9AA8B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406640" y="3671316"/>
            <a:ext cx="2743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54D"/>
                </a:solidFill>
              </a:rPr>
              <a:t>1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8805672" y="4014216"/>
            <a:ext cx="2743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54D"/>
                </a:solidFill>
              </a:rPr>
              <a:t>N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0268712" y="5440680"/>
            <a:ext cx="0" cy="-630936"/>
          </a:xfrm>
          <a:prstGeom prst="line">
            <a:avLst/>
          </a:prstGeom>
          <a:noFill/>
          <a:ln w="19050">
            <a:solidFill>
              <a:srgbClr val="9AA8B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0131552" y="5212080"/>
            <a:ext cx="2743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54D"/>
                </a:solidFill>
              </a:rPr>
              <a:t>1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10131552" y="4818888"/>
            <a:ext cx="2743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54D"/>
                </a:solidFill>
              </a:rPr>
              <a:t>N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966460" y="4233672"/>
            <a:ext cx="205740" cy="932688"/>
          </a:xfrm>
          <a:prstGeom prst="line">
            <a:avLst/>
          </a:prstGeom>
          <a:noFill/>
          <a:ln w="19050">
            <a:solidFill>
              <a:srgbClr val="9AA8B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829300" y="4242816"/>
            <a:ext cx="2743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54D"/>
                </a:solidFill>
              </a:rPr>
              <a:t>1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6035040" y="4937760"/>
            <a:ext cx="2743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54D"/>
                </a:solidFill>
              </a:rPr>
              <a:t>1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77240" y="56692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i="1" dirty="0">
                <a:solidFill>
                  <a:srgbClr val="6B7884"/>
                </a:solidFill>
              </a:rPr>
              <a:t>La Orden de Servicio es la entidad central; las llaves foráneas conectan cada reparación con su cliente, equipo, técnico, repuestos y pago.</a:t>
            </a:r>
            <a:endParaRPr lang="en-US" sz="1150" dirty="0"/>
          </a:p>
        </p:txBody>
      </p:sp>
      <p:sp>
        <p:nvSpPr>
          <p:cNvPr id="89" name="Text 87"/>
          <p:cNvSpPr/>
          <p:nvPr/>
        </p:nvSpPr>
        <p:spPr>
          <a:xfrm>
            <a:off x="7772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Android Market · Sistema de Información para Servicios Técnicos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10332720" y="643737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09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64"/>
                </a:solidFill>
              </a:rPr>
              <a:t>DISEÑO LÓGICO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4980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Diccionario de datos — ejemplo: Orden de Servicio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828800"/>
          <a:ext cx="1063447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371600"/>
                <a:gridCol w="1097280"/>
                <a:gridCol w="55138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3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Descripción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ID_ORDEN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E6E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Identificador único de la orden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FECHA_RECEPCIÓN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 de ingreso del equipo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ID_CLIENTE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 que solicita el servicio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ID_EQUIPO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Equipo recibido para reparación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FALLA_REPORTADA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 indicado por el cliente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Recibido · en reparación · listo · entregado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FECHA_ENTREGA_EST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 estimada de entrega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77240" y="5760720"/>
            <a:ext cx="1063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i="1" dirty="0">
                <a:solidFill>
                  <a:srgbClr val="0A554D"/>
                </a:solidFill>
              </a:rPr>
              <a:t>Las otras siete entidades (Cliente, Equipo, Técnico, Diagnóstico, Repuesto, Detalle de repuesto y Pago) siguen esta misma estructura: cada campo con su tipo, su llave y su descripción.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772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Android Market · Sistema de Información para Servicios Técnicos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332720" y="643737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64"/>
                </a:solidFill>
              </a:rPr>
              <a:t>RESULTADO EN OPERACIÓN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4980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Trazabilidad: una reparación seguida de principio a fin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62763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554D"/>
                </a:solidFill>
              </a:rPr>
              <a:t>Ejemplo real registrado en el sistema — Orden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73152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3DBD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3544" y="2249424"/>
            <a:ext cx="365760" cy="365760"/>
          </a:xfrm>
          <a:prstGeom prst="ellipse">
            <a:avLst/>
          </a:prstGeom>
          <a:solidFill>
            <a:srgbClr val="13283C"/>
          </a:solidFill>
          <a:ln/>
        </p:spPr>
      </p:sp>
      <p:sp>
        <p:nvSpPr>
          <p:cNvPr id="7" name="Text 5"/>
          <p:cNvSpPr/>
          <p:nvPr/>
        </p:nvSpPr>
        <p:spPr>
          <a:xfrm>
            <a:off x="923544" y="22311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40" dirty="0"/>
          </a:p>
        </p:txBody>
      </p:sp>
      <p:sp>
        <p:nvSpPr>
          <p:cNvPr id="8" name="Text 6"/>
          <p:cNvSpPr/>
          <p:nvPr/>
        </p:nvSpPr>
        <p:spPr>
          <a:xfrm>
            <a:off x="1463040" y="214884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83C"/>
                </a:solidFill>
              </a:rPr>
              <a:t>Cliente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343400" y="214884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3640"/>
                </a:solidFill>
              </a:rPr>
              <a:t>Mario Tipuni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77240" y="2743200"/>
            <a:ext cx="7315200" cy="566928"/>
          </a:xfrm>
          <a:prstGeom prst="rect">
            <a:avLst/>
          </a:prstGeom>
          <a:solidFill>
            <a:srgbClr val="F2F5F6"/>
          </a:solidFill>
          <a:ln w="6350">
            <a:solidFill>
              <a:srgbClr val="D3DBD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3544" y="2843784"/>
            <a:ext cx="365760" cy="365760"/>
          </a:xfrm>
          <a:prstGeom prst="ellipse">
            <a:avLst/>
          </a:prstGeom>
          <a:solidFill>
            <a:srgbClr val="13283C"/>
          </a:solidFill>
          <a:ln/>
        </p:spPr>
      </p:sp>
      <p:sp>
        <p:nvSpPr>
          <p:cNvPr id="12" name="Text 10"/>
          <p:cNvSpPr/>
          <p:nvPr/>
        </p:nvSpPr>
        <p:spPr>
          <a:xfrm>
            <a:off x="923544" y="2825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40" dirty="0"/>
          </a:p>
        </p:txBody>
      </p:sp>
      <p:sp>
        <p:nvSpPr>
          <p:cNvPr id="13" name="Text 11"/>
          <p:cNvSpPr/>
          <p:nvPr/>
        </p:nvSpPr>
        <p:spPr>
          <a:xfrm>
            <a:off x="1463040" y="274320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83C"/>
                </a:solidFill>
              </a:rPr>
              <a:t>Equipo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343400" y="274320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3640"/>
                </a:solidFill>
              </a:rPr>
              <a:t>Huawei P30 Lite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77240" y="3337560"/>
            <a:ext cx="73152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3DBD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23544" y="3438144"/>
            <a:ext cx="365760" cy="365760"/>
          </a:xfrm>
          <a:prstGeom prst="ellipse">
            <a:avLst/>
          </a:prstGeom>
          <a:solidFill>
            <a:srgbClr val="13283C"/>
          </a:solidFill>
          <a:ln/>
        </p:spPr>
      </p:sp>
      <p:sp>
        <p:nvSpPr>
          <p:cNvPr id="17" name="Text 15"/>
          <p:cNvSpPr/>
          <p:nvPr/>
        </p:nvSpPr>
        <p:spPr>
          <a:xfrm>
            <a:off x="923544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40" dirty="0"/>
          </a:p>
        </p:txBody>
      </p:sp>
      <p:sp>
        <p:nvSpPr>
          <p:cNvPr id="18" name="Text 16"/>
          <p:cNvSpPr/>
          <p:nvPr/>
        </p:nvSpPr>
        <p:spPr>
          <a:xfrm>
            <a:off x="1463040" y="333756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83C"/>
                </a:solidFill>
              </a:rPr>
              <a:t>Falla / diagnóstico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343400" y="333756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3640"/>
                </a:solidFill>
              </a:rPr>
              <a:t>Pantalla dañada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77240" y="3931920"/>
            <a:ext cx="7315200" cy="566928"/>
          </a:xfrm>
          <a:prstGeom prst="rect">
            <a:avLst/>
          </a:prstGeom>
          <a:solidFill>
            <a:srgbClr val="F2F5F6"/>
          </a:solidFill>
          <a:ln w="6350">
            <a:solidFill>
              <a:srgbClr val="D3DBD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3544" y="4032504"/>
            <a:ext cx="365760" cy="365760"/>
          </a:xfrm>
          <a:prstGeom prst="ellipse">
            <a:avLst/>
          </a:prstGeom>
          <a:solidFill>
            <a:srgbClr val="13283C"/>
          </a:solidFill>
          <a:ln/>
        </p:spPr>
      </p:sp>
      <p:sp>
        <p:nvSpPr>
          <p:cNvPr id="22" name="Text 20"/>
          <p:cNvSpPr/>
          <p:nvPr/>
        </p:nvSpPr>
        <p:spPr>
          <a:xfrm>
            <a:off x="923544" y="4014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40" dirty="0"/>
          </a:p>
        </p:txBody>
      </p:sp>
      <p:sp>
        <p:nvSpPr>
          <p:cNvPr id="23" name="Text 21"/>
          <p:cNvSpPr/>
          <p:nvPr/>
        </p:nvSpPr>
        <p:spPr>
          <a:xfrm>
            <a:off x="1463040" y="393192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83C"/>
                </a:solidFill>
              </a:rPr>
              <a:t>Técnico responsable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343400" y="393192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3640"/>
                </a:solidFill>
              </a:rPr>
              <a:t>Carlos Paz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777240" y="4526280"/>
            <a:ext cx="73152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3DBD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3544" y="4626864"/>
            <a:ext cx="365760" cy="365760"/>
          </a:xfrm>
          <a:prstGeom prst="ellipse">
            <a:avLst/>
          </a:prstGeom>
          <a:solidFill>
            <a:srgbClr val="13283C"/>
          </a:solidFill>
          <a:ln/>
        </p:spPr>
      </p:sp>
      <p:sp>
        <p:nvSpPr>
          <p:cNvPr id="27" name="Text 25"/>
          <p:cNvSpPr/>
          <p:nvPr/>
        </p:nvSpPr>
        <p:spPr>
          <a:xfrm>
            <a:off x="923544" y="4608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40" dirty="0"/>
          </a:p>
        </p:txBody>
      </p:sp>
      <p:sp>
        <p:nvSpPr>
          <p:cNvPr id="28" name="Text 26"/>
          <p:cNvSpPr/>
          <p:nvPr/>
        </p:nvSpPr>
        <p:spPr>
          <a:xfrm>
            <a:off x="1463040" y="452628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83C"/>
                </a:solidFill>
              </a:rPr>
              <a:t>Repuesto consumido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343400" y="452628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3640"/>
                </a:solidFill>
              </a:rPr>
              <a:t>Pantalla Huawei P30 — 1 unidad (180 Bs)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777240" y="5120640"/>
            <a:ext cx="7315200" cy="566928"/>
          </a:xfrm>
          <a:prstGeom prst="rect">
            <a:avLst/>
          </a:prstGeom>
          <a:solidFill>
            <a:srgbClr val="F2F5F6"/>
          </a:solidFill>
          <a:ln w="6350">
            <a:solidFill>
              <a:srgbClr val="D3DBD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23544" y="5221224"/>
            <a:ext cx="365760" cy="365760"/>
          </a:xfrm>
          <a:prstGeom prst="ellipse">
            <a:avLst/>
          </a:prstGeom>
          <a:solidFill>
            <a:srgbClr val="13283C"/>
          </a:solidFill>
          <a:ln/>
        </p:spPr>
      </p:sp>
      <p:sp>
        <p:nvSpPr>
          <p:cNvPr id="32" name="Text 30"/>
          <p:cNvSpPr/>
          <p:nvPr/>
        </p:nvSpPr>
        <p:spPr>
          <a:xfrm>
            <a:off x="923544" y="5202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40" dirty="0"/>
          </a:p>
        </p:txBody>
      </p:sp>
      <p:sp>
        <p:nvSpPr>
          <p:cNvPr id="33" name="Text 31"/>
          <p:cNvSpPr/>
          <p:nvPr/>
        </p:nvSpPr>
        <p:spPr>
          <a:xfrm>
            <a:off x="1463040" y="512064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83C"/>
                </a:solidFill>
              </a:rPr>
              <a:t>Pago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4343400" y="512064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3640"/>
                </a:solidFill>
              </a:rPr>
              <a:t>Efectivo — estado: pagado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8503920" y="2148840"/>
            <a:ext cx="2907792" cy="3566160"/>
          </a:xfrm>
          <a:prstGeom prst="roundRect">
            <a:avLst>
              <a:gd name="adj" fmla="val 1887"/>
            </a:avLst>
          </a:prstGeom>
          <a:solidFill>
            <a:srgbClr val="13283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732520" y="23774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E6E64"/>
                </a:solidFill>
              </a:rPr>
              <a:t>QUÉ PERMITE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732520" y="27889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E64"/>
                </a:solidFill>
              </a:rPr>
              <a:t>—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979408" y="277063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AF0F2"/>
                </a:solidFill>
              </a:rPr>
              <a:t>Saber quién atendió cada equipo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732520" y="350215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E64"/>
                </a:solidFill>
              </a:rPr>
              <a:t>—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979408" y="3483864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AF0F2"/>
                </a:solidFill>
              </a:rPr>
              <a:t>Conocer qué repuestos se consumieron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8732520" y="421538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E64"/>
                </a:solidFill>
              </a:rPr>
              <a:t>—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979408" y="4197096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AF0F2"/>
                </a:solidFill>
              </a:rPr>
              <a:t>Calcular el cobro: mano de obra + repuestos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8732520" y="492861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E64"/>
                </a:solidFill>
              </a:rPr>
              <a:t>—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979408" y="491032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AF0F2"/>
                </a:solidFill>
              </a:rPr>
              <a:t>Consultar el historial de cada cliente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7772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Android Market · Sistema de Información para Servicios Técnicos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0332720" y="643737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64"/>
                </a:solidFill>
              </a:rPr>
              <a:t>DE LA PROPUESTA AL SISTEMA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4980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Fuimos más allá del diseño: un sistema funcional propio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5074920" cy="1737360"/>
          </a:xfrm>
          <a:prstGeom prst="roundRect">
            <a:avLst>
              <a:gd name="adj" fmla="val 3158"/>
            </a:avLst>
          </a:prstGeom>
          <a:solidFill>
            <a:srgbClr val="F2F5F6"/>
          </a:solidFill>
          <a:ln w="12700">
            <a:solidFill>
              <a:srgbClr val="D3DBD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51560" y="19933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B7884"/>
                </a:solidFill>
              </a:rPr>
              <a:t>LO PROPUESTO EN EL DOCUMENTO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51560" y="2304288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B3640"/>
                </a:solidFill>
              </a:rPr>
              <a:t>El diseño y el modelo lógico del sistema, con Odoo citado como una alternativa tecnológica de referencia.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897880" y="2331720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E6E64"/>
                </a:solidFill>
              </a:rPr>
              <a:t>→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537960" y="1783080"/>
            <a:ext cx="4873752" cy="1737360"/>
          </a:xfrm>
          <a:prstGeom prst="roundRect">
            <a:avLst>
              <a:gd name="adj" fmla="val 3158"/>
            </a:avLst>
          </a:prstGeom>
          <a:solidFill>
            <a:srgbClr val="0E6E64"/>
          </a:solidFill>
          <a:ln/>
        </p:spPr>
      </p:sp>
      <p:sp>
        <p:nvSpPr>
          <p:cNvPr id="9" name="Text 7"/>
          <p:cNvSpPr/>
          <p:nvPr/>
        </p:nvSpPr>
        <p:spPr>
          <a:xfrm>
            <a:off x="6812280" y="19933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CEBE9"/>
                </a:solidFill>
              </a:rPr>
              <a:t>LO QUE ENTREGAMOS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12280" y="2304288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FFFFFF"/>
                </a:solidFill>
              </a:rPr>
              <a:t>Un sistema funcional propio, a la medida del proceso del servicio técnico, que implementa nuestro modelo de datos.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77240" y="3886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B7884"/>
                </a:solidFill>
              </a:rPr>
              <a:t>UNA DECISIÓN DE DISEÑO, NO UNA LIMITACIÓN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77240" y="4251960"/>
            <a:ext cx="3361944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3DBD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005840" y="4462272"/>
            <a:ext cx="2904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Adaptado al contexto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05840" y="4864608"/>
            <a:ext cx="2904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B7884"/>
                </a:solidFill>
              </a:rPr>
              <a:t>Pensado para Rurrenabaque, donde la conectividad es variable y los recursos limitados.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413504" y="4251960"/>
            <a:ext cx="3361944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3DBD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642104" y="4462272"/>
            <a:ext cx="2904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Funciona siempre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642104" y="4864608"/>
            <a:ext cx="2904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B7884"/>
                </a:solidFill>
              </a:rPr>
              <a:t>Opera de forma local: no depende de que internet esté disponible para registrar una reparación.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49768" y="4251960"/>
            <a:ext cx="3361944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3DBD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78368" y="4462272"/>
            <a:ext cx="2904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Preparado para crecer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78368" y="4864608"/>
            <a:ext cx="2904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B7884"/>
                </a:solidFill>
              </a:rPr>
              <a:t>La misma base puede sincronizarse y ampliarse cuando el negocio lo requiera.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772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Android Market · Sistema de Información para Servicios Técnicos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332720" y="643737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28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64"/>
                </a:solidFill>
              </a:rPr>
              <a:t>RESULTADOS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4980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sistema ya opera con datos reales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2452878" cy="1691640"/>
          </a:xfrm>
          <a:prstGeom prst="roundRect">
            <a:avLst>
              <a:gd name="adj" fmla="val 3243"/>
            </a:avLst>
          </a:prstGeom>
          <a:solidFill>
            <a:srgbClr val="1C3A52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938528"/>
            <a:ext cx="2452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E6E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914400" y="2788920"/>
            <a:ext cx="21785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3D9"/>
                </a:solidFill>
              </a:rPr>
              <a:t>órdenes de servicio registradas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504438" y="1783080"/>
            <a:ext cx="2452878" cy="1691640"/>
          </a:xfrm>
          <a:prstGeom prst="roundRect">
            <a:avLst>
              <a:gd name="adj" fmla="val 3243"/>
            </a:avLst>
          </a:prstGeom>
          <a:solidFill>
            <a:srgbClr val="1C3A52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04438" y="1938528"/>
            <a:ext cx="2452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E6E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641598" y="2788920"/>
            <a:ext cx="21785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3D9"/>
                </a:solidFill>
              </a:rPr>
              <a:t>entidades relacionadas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1636" y="1783080"/>
            <a:ext cx="2452878" cy="1691640"/>
          </a:xfrm>
          <a:prstGeom prst="roundRect">
            <a:avLst>
              <a:gd name="adj" fmla="val 3243"/>
            </a:avLst>
          </a:prstGeom>
          <a:solidFill>
            <a:srgbClr val="1C3A52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31636" y="1938528"/>
            <a:ext cx="2452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E6E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6368796" y="2788920"/>
            <a:ext cx="21785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3D9"/>
                </a:solidFill>
              </a:rPr>
              <a:t>técnicos con trabajo asignado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958834" y="1783080"/>
            <a:ext cx="2452878" cy="1691640"/>
          </a:xfrm>
          <a:prstGeom prst="roundRect">
            <a:avLst>
              <a:gd name="adj" fmla="val 3243"/>
            </a:avLst>
          </a:prstGeom>
          <a:solidFill>
            <a:srgbClr val="1C3A52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958834" y="1938528"/>
            <a:ext cx="2452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E6E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10.000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9095994" y="2788920"/>
            <a:ext cx="21785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3D9"/>
                </a:solidFill>
              </a:rPr>
              <a:t>Bs/mes de movimiento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77240" y="384048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E6E64"/>
                </a:solidFill>
              </a:rPr>
              <a:t>LO QUE ENTREGA AL NEGOCIO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422452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64"/>
                </a:solidFill>
              </a:rPr>
              <a:t>—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69848" y="42062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AF0F2"/>
                </a:solidFill>
              </a:rPr>
              <a:t>Control de cada orden y de su estado en todo momento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0" y="422452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64"/>
                </a:solidFill>
              </a:rPr>
              <a:t>—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10528" y="42062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AF0F2"/>
                </a:solidFill>
              </a:rPr>
              <a:t>Consumo de repuestos registrado y stock actualizado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497433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64"/>
                </a:solidFill>
              </a:rPr>
              <a:t>—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69848" y="49560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AF0F2"/>
                </a:solidFill>
              </a:rPr>
              <a:t>Trazabilidad, código QR y comprobante PDF para el cliente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217920" y="497433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64"/>
                </a:solidFill>
              </a:rPr>
              <a:t>—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0528" y="49560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AF0F2"/>
                </a:solidFill>
              </a:rPr>
              <a:t>Reportes, búsqueda global y respaldo de los datos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772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E99"/>
                </a:solidFill>
              </a:rPr>
              <a:t>Android Market · Sistema de Información para Servicios Técnicos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332720" y="643737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E99"/>
                </a:solidFill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64"/>
                </a:solidFill>
              </a:rPr>
              <a:t>SOSTENIBILIDAD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4980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arquitectura preparada para crecer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106549" y="2834640"/>
            <a:ext cx="7975854" cy="0"/>
          </a:xfrm>
          <a:prstGeom prst="line">
            <a:avLst/>
          </a:prstGeom>
          <a:noFill/>
          <a:ln w="25400">
            <a:solidFill>
              <a:srgbClr val="D3DB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13941" y="2542032"/>
            <a:ext cx="585216" cy="585216"/>
          </a:xfrm>
          <a:prstGeom prst="ellipse">
            <a:avLst/>
          </a:prstGeom>
          <a:solidFill>
            <a:srgbClr val="0E6E64"/>
          </a:solidFill>
          <a:ln/>
        </p:spPr>
      </p:sp>
      <p:sp>
        <p:nvSpPr>
          <p:cNvPr id="6" name="Text 4"/>
          <p:cNvSpPr/>
          <p:nvPr/>
        </p:nvSpPr>
        <p:spPr>
          <a:xfrm>
            <a:off x="1813941" y="252374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6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64" dirty="0"/>
          </a:p>
        </p:txBody>
      </p:sp>
      <p:sp>
        <p:nvSpPr>
          <p:cNvPr id="7" name="Text 5"/>
          <p:cNvSpPr/>
          <p:nvPr/>
        </p:nvSpPr>
        <p:spPr>
          <a:xfrm>
            <a:off x="886968" y="3456432"/>
            <a:ext cx="2439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55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3840480"/>
            <a:ext cx="220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B7884"/>
                </a:solidFill>
              </a:rPr>
              <a:t>Sistema de gestión funcional para el área técnica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72559" y="2542032"/>
            <a:ext cx="585216" cy="58521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1328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72559" y="252374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545586" y="3456432"/>
            <a:ext cx="2439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Etapa 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664458" y="3840480"/>
            <a:ext cx="220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B7884"/>
                </a:solidFill>
              </a:rPr>
              <a:t>Multiusuario con acceso por roles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131177" y="2542032"/>
            <a:ext cx="585216" cy="58521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1328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1177" y="252374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204204" y="3456432"/>
            <a:ext cx="2439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Etapa 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323076" y="3840480"/>
            <a:ext cx="220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B7884"/>
                </a:solidFill>
              </a:rPr>
              <a:t>Portal de clientes y aplicación móvil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789795" y="2542032"/>
            <a:ext cx="585216" cy="58521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1328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89795" y="252374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862822" y="3456432"/>
            <a:ext cx="2439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Etapa 4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981694" y="3840480"/>
            <a:ext cx="220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B7884"/>
                </a:solidFill>
              </a:rPr>
              <a:t>Reportes avanzados y varias sucursales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77240" y="5029200"/>
            <a:ext cx="10634472" cy="914400"/>
          </a:xfrm>
          <a:prstGeom prst="roundRect">
            <a:avLst>
              <a:gd name="adj" fmla="val 6000"/>
            </a:avLst>
          </a:prstGeom>
          <a:solidFill>
            <a:srgbClr val="F2F5F6"/>
          </a:solidFill>
          <a:ln w="12700">
            <a:solidFill>
              <a:srgbClr val="D3DBD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069848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3283C"/>
                </a:solidFill>
              </a:rPr>
              <a:t>Implementación por etapas:  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B3640"/>
                </a:solidFill>
              </a:rPr>
              <a:t>empezar simple — órdenes e inventario — y crecer según las necesidades del negocio. Es el camino más viable para una empresa pequeña.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772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Android Market · Sistema de Información para Servicios Técnicos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332720" y="643737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28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3291840"/>
            <a:ext cx="6400800" cy="6400800"/>
          </a:xfrm>
          <a:prstGeom prst="ellipse">
            <a:avLst/>
          </a:prstGeom>
          <a:solidFill>
            <a:srgbClr val="1C3A52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64"/>
                </a:solidFill>
              </a:rPr>
              <a:t>CONCLUSIÓN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6E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25880" y="1307592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EAF0F2"/>
                </a:solidFill>
              </a:rPr>
              <a:t>El registro manual generaba pérdida de información y falta de seguimiento de los equipos.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77724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6E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25880" y="2039112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EAF0F2"/>
                </a:solidFill>
              </a:rPr>
              <a:t>El modelo de datos organiza el proceso completo: clientes, equipos, órdenes, diagnósticos, repuestos y pagos.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772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6E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325880" y="2770632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EAF0F2"/>
                </a:solidFill>
              </a:rPr>
              <a:t>El sistema aporta trazabilidad y datos confiables para la toma de decisiones del negocio.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777240" y="3749040"/>
            <a:ext cx="10634472" cy="0"/>
          </a:xfrm>
          <a:prstGeom prst="line">
            <a:avLst/>
          </a:prstGeom>
          <a:noFill/>
          <a:ln w="12700">
            <a:solidFill>
              <a:srgbClr val="3A54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06908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objetivo no fue únicamente registrar datos. Fue diseñar un Sistema de Información capaz de representar, organizar y mejorar los procesos reales de un servicio técnico.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777240" y="5943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E6E64"/>
                </a:solidFill>
              </a:rPr>
              <a:t>Gracias por su atención.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692640" y="5943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i="1" dirty="0">
                <a:solidFill>
                  <a:srgbClr val="9FB1BB"/>
                </a:solidFill>
              </a:rPr>
              <a:t>¿Preguntas?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Android Market — Sistema de Información para la Gestión de Servicios Técnicos</dc:title>
  <dc:subject>PptxGenJS Presentation</dc:subject>
  <dc:creator>Equipo Android Market</dc:creator>
  <cp:lastModifiedBy>Equipo Android Market</cp:lastModifiedBy>
  <cp:revision>1</cp:revision>
  <dcterms:created xsi:type="dcterms:W3CDTF">2026-06-09T12:56:21Z</dcterms:created>
  <dcterms:modified xsi:type="dcterms:W3CDTF">2026-06-09T12:56:21Z</dcterms:modified>
</cp:coreProperties>
</file>