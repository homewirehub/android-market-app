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2377440"/>
            <a:ext cx="6858000" cy="6858000"/>
          </a:xfrm>
          <a:prstGeom prst="ellipse">
            <a:avLst/>
          </a:prstGeom>
          <a:solidFill>
            <a:srgbClr val="1C3A5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6E64"/>
                </a:solidFill>
              </a:rPr>
              <a:t>PROYECTO FINAL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7CF"/>
                </a:solidFill>
              </a:rPr>
              <a:t>Tecnología de la Información II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Market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77240" y="3429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Información para la Gestión de Servicios Técnicos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5528" y="4526280"/>
            <a:ext cx="3017520" cy="0"/>
          </a:xfrm>
          <a:prstGeom prst="line">
            <a:avLst/>
          </a:prstGeom>
          <a:noFill/>
          <a:ln w="19050">
            <a:solidFill>
              <a:srgbClr val="3A54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1BB"/>
                </a:solidFill>
              </a:rPr>
              <a:t>Servicio técnico de celulares · Rurrenabaque, Beni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532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A0AB"/>
                </a:solidFill>
              </a:rPr>
              <a:t>Carlos Paz Maita  ·  Noe Miguel Flores Mamani  ·  Esequiel Mike Flores Mamani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DA0AB"/>
                </a:solidFill>
              </a:rPr>
              <a:t>Yeis Lucía Dayana Chipunavi  ·  Daniel Gómez Choque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28D"/>
                </a:solidFill>
              </a:rPr>
              <a:t>Docente: Ing. Cecilia Elsa Choque Berdeja  ·  UMSA Caranavi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CONTEXTO DEL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caso real de servicio técnico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13283C"/>
                </a:solidFill>
              </a:rPr>
              <a:t>Android Market</a:t>
            </a:r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B3640"/>
                </a:solidFill>
              </a:rPr>
              <a:t> es un taller dedicado a la reparación de celulares, venta de repuestos y accesorios. Inició en 2015 con dos personas atendiendo en el Mercado Central de Rurrenabaque y, con el crecimiento de su clientela, se trasladó a un local propio sobre la calle Beni.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77240" y="329184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2B3640"/>
                </a:solidFill>
              </a:rPr>
              <a:t>Sus servicios incluyen diagnóstico, cambio de pantalla y batería, reparación de pin de carga, limpieza interna, revisión de software y reemplazo de piezas. El crecimiento del taller hizo cada vez más difícil llevar el control del área técnica de forma manual.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49834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0A554D"/>
                </a:solidFill>
              </a:rPr>
              <a:t>Este proyecto se centra exclusivamente en el área de servicio técnico, separándola de la venta de teléfonos.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691640"/>
            <a:ext cx="4005072" cy="4206240"/>
          </a:xfrm>
          <a:prstGeom prst="roundRect">
            <a:avLst>
              <a:gd name="adj" fmla="val 1370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0" y="1938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6E64"/>
                </a:solidFill>
              </a:rPr>
              <a:t>FICHA DEL NEGOCIO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80960" y="23957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Rubro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</a:rPr>
              <a:t>Servicio técnico de celulares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2912364"/>
            <a:ext cx="3456432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9763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Ubicación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31958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</a:rPr>
              <a:t>Rurrenabaque, Beni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493008"/>
            <a:ext cx="3456432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35570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Inicio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</a:rPr>
              <a:t>Marzo de 2015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073652"/>
            <a:ext cx="3456432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41376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Atención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43571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</a:rPr>
              <a:t>Lunes a domingo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0" y="4654296"/>
            <a:ext cx="3456432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47183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Movimiento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4937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</a:rPr>
              <a:t>≈ 10.000 Bs / mes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0" y="5234940"/>
            <a:ext cx="3456432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52989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Foco del proyecto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55184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83C"/>
                </a:solidFill>
              </a:rPr>
              <a:t>Área técnica (reparaciones)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PLANTEAMIENTO DEL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dispersa, sin seguimiento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212080" cy="4206240"/>
          </a:xfrm>
          <a:prstGeom prst="roundRect">
            <a:avLst>
              <a:gd name="adj" fmla="val 1304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7884"/>
                </a:solidFill>
              </a:rPr>
              <a:t>CÓMO SE REGISTRABA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52374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83C"/>
                </a:solidFill>
              </a:rPr>
              <a:t>Cuadernos y hojas sueltas
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884"/>
                </a:solidFill>
              </a:rPr>
              <a:t>se pierden o se deterioran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362102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83C"/>
                </a:solidFill>
              </a:rPr>
              <a:t>Mensajes de WhatsApp
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884"/>
                </a:solidFill>
              </a:rPr>
              <a:t>acuerdos que no quedan documentados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4754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4718304"/>
            <a:ext cx="4160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3283C"/>
                </a:solidFill>
              </a:rPr>
              <a:t>La memoria del encargado
</a:t>
            </a:r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B7884"/>
                </a:solidFill>
              </a:rPr>
              <a:t>nadie más conoce el estado de un equipo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53328" y="36576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884"/>
                </a:solidFill>
              </a:rPr>
              <a:t>deriva 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4069080"/>
            <a:ext cx="841248" cy="0"/>
          </a:xfrm>
          <a:prstGeom prst="line">
            <a:avLst/>
          </a:prstGeom>
          <a:noFill/>
          <a:ln w="25400">
            <a:solidFill>
              <a:srgbClr val="0E6E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4069080"/>
            <a:ext cx="118872" cy="-91440"/>
          </a:xfrm>
          <a:prstGeom prst="line">
            <a:avLst/>
          </a:prstGeom>
          <a:noFill/>
          <a:ln w="25400">
            <a:solidFill>
              <a:srgbClr val="0E6E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4069080"/>
            <a:ext cx="118872" cy="91440"/>
          </a:xfrm>
          <a:prstGeom prst="line">
            <a:avLst/>
          </a:prstGeom>
          <a:noFill/>
          <a:ln w="25400">
            <a:solidFill>
              <a:srgbClr val="0E6E6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783080"/>
            <a:ext cx="4325112" cy="4206240"/>
          </a:xfrm>
          <a:prstGeom prst="roundRect">
            <a:avLst>
              <a:gd name="adj" fmla="val 1304"/>
            </a:avLst>
          </a:prstGeom>
          <a:solidFill>
            <a:srgbClr val="13283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6092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4"/>
                </a:solidFill>
              </a:rPr>
              <a:t>CONSECUENCIAS PARA EL NEGOCIO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0920" y="254203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</a:rPr>
              <a:t>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0" y="252374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2"/>
                </a:solidFill>
              </a:rPr>
              <a:t>No se sabe cuántos servicios se realizan por día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0920" y="321411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</a:rPr>
              <a:t>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319582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2"/>
                </a:solidFill>
              </a:rPr>
              <a:t>Falta claridad sobre los repuestos consumidos en cada reparación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0920" y="38862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</a:rPr>
              <a:t>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80960" y="386791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2"/>
                </a:solidFill>
              </a:rPr>
              <a:t>Confusión sobre qué equipos están pendientes de entrega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60920" y="45582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</a:rPr>
              <a:t>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45399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2"/>
                </a:solidFill>
              </a:rPr>
              <a:t>No queda registro de qué técnico atendió cada equipo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60920" y="523036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80960" y="5212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AF0F2"/>
                </a:solidFill>
              </a:rPr>
              <a:t>Las decisiones se toman sin datos confiables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PREGUNTA Y 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busca resolver 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10634472" cy="1371600"/>
          </a:xfrm>
          <a:prstGeom prst="roundRect">
            <a:avLst>
              <a:gd name="adj" fmla="val 4000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9848" y="19385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6E64"/>
                </a:solidFill>
              </a:rPr>
              <a:t>PREGUNTA DE INVESTIGACIÓN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69848" y="2249424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manera mejorar la gestión de servicios técnicos, clientes e inventario de repuestos del taller Android Market en Rurrenabaque?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884"/>
                </a:solidFill>
              </a:rPr>
              <a:t>OBJETIVO GENERAL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67588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2B3640"/>
                </a:solidFill>
              </a:rPr>
              <a:t>Diseñar un sistema de información para gestionar servicios técnicos, clientes e inventario de repuestos, mejorando el control operativo y la calidad de atención al cliente.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526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884"/>
                </a:solidFill>
              </a:rPr>
              <a:t>OBJETIVOS ESPECÍFICOS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864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8646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0"/>
                </a:solidFill>
              </a:rPr>
              <a:t>Modelar la información del proceso: clientes, equipos, técnicos, órdenes, diagnósticos, repuestos y pagos.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53218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0"/>
                </a:solidFill>
              </a:rPr>
              <a:t>Definir un flujo de trabajo para registrar, seguir y cerrar cada reparación.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5779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57790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0"/>
                </a:solidFill>
              </a:rPr>
              <a:t>Plantear reportes que muestren servicios solicitados, repuestos usados e ingresos por reparación.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ALCANCE Y LÍMITES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cubre el sistema y qué queda fuera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4"/>
                </a:solidFill>
              </a:rPr>
              <a:t>EL SISTEMA ABARCA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44168" y="246888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Registro de clientes, equipos y técnicos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04952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303123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Órdenes de servicio con estados (recibido, en reparación, listo, entregado)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44168" y="359359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Diagnóstico y trabajo realizado por orden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417423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44168" y="415594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Control de repuestos y actualización de stock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7365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4168" y="471830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Pagos por reparación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529894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44168" y="528066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Reportes diarios, semanales y mensuales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632" y="178308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884"/>
                </a:solidFill>
              </a:rPr>
              <a:t>FUERA DE ALCANCE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2487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884"/>
                </a:solidFill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4848" y="24688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Facturación electrónica e integración con Impuestos Nacionales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321868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884"/>
                </a:solidFill>
              </a:rPr>
              <a:t>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84848" y="32004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Contabilidad general, balances y estados financieros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39502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884"/>
                </a:solidFill>
              </a:rPr>
              <a:t>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84848" y="39319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Planillas de sueldos y gestión de personal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73952" y="468172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884"/>
                </a:solidFill>
              </a:rPr>
              <a:t>—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46634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Venta de teléfonos (se trata en un documento aparte)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73952" y="5394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0A554D"/>
                </a:solidFill>
              </a:rPr>
              <a:t>Delimitar el alcance es parte del diseño: un sistema enfocado se implementa y se mantiene mejor que uno que intenta abarcarlo todo.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MARCO CONCEPTUAL ·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Sistema de Información?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3D"/>
                </a:solidFill>
              </a:rPr>
              <a:t>DATOS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6B7884"/>
                </a:solidFill>
              </a:rPr>
              <a:t>registros aislados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9933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E6E64"/>
                </a:solidFill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251960" y="178308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0E6E64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0116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INFORMACIÓN</a:t>
            </a:r>
          </a:p>
          <a:p>
            <a:pPr algn="ctr" indent="0" marL="0">
              <a:buNone/>
            </a:pPr>
            <a:r>
              <a:rPr lang="en-US" sz="1200" dirty="0">
                <a:solidFill>
                  <a:srgbClr val="DCEBE9"/>
                </a:solidFill>
              </a:rPr>
              <a:t>datos organizados para decidir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52360" y="173736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2B3640"/>
                </a:solidFill>
              </a:rPr>
              <a:t>Un conjunto de componentes interrelacionados que recolectan, procesan, almacenan y distribuyen información para apoyar la toma de decisiones y el control en una organización.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52360" y="30175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884"/>
                </a:solidFill>
              </a:rPr>
              <a:t>Laudon &amp; Laudon (2020)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884"/>
                </a:solidFill>
              </a:rPr>
              <a:t>CUATRO COMPONENTES QUE INTEGRA EL SISTEMA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749040"/>
            <a:ext cx="2452878" cy="1783080"/>
          </a:xfrm>
          <a:prstGeom prst="roundRect">
            <a:avLst>
              <a:gd name="adj" fmla="val 3077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33272" y="3995928"/>
            <a:ext cx="457200" cy="45720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" y="457200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3272" y="493776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884"/>
                </a:solidFill>
              </a:rPr>
              <a:t>Técnicos y encargado que operan el sistema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04438" y="3749040"/>
            <a:ext cx="2452878" cy="1783080"/>
          </a:xfrm>
          <a:prstGeom prst="roundRect">
            <a:avLst>
              <a:gd name="adj" fmla="val 3077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0470" y="3995928"/>
            <a:ext cx="457200" cy="45720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19" name="Text 17"/>
          <p:cNvSpPr/>
          <p:nvPr/>
        </p:nvSpPr>
        <p:spPr>
          <a:xfrm>
            <a:off x="376047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60470" y="457200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760470" y="493776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884"/>
                </a:solidFill>
              </a:rPr>
              <a:t>Recepción, diagnóstico, reparación, pago y entrega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1636" y="3749040"/>
            <a:ext cx="2452878" cy="1783080"/>
          </a:xfrm>
          <a:prstGeom prst="roundRect">
            <a:avLst>
              <a:gd name="adj" fmla="val 3077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87668" y="3995928"/>
            <a:ext cx="457200" cy="45720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8766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87668" y="457200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87668" y="493776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884"/>
                </a:solidFill>
              </a:rPr>
              <a:t>Ocho entidades relacionadas del negocio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58834" y="3749040"/>
            <a:ext cx="2452878" cy="1783080"/>
          </a:xfrm>
          <a:prstGeom prst="roundRect">
            <a:avLst>
              <a:gd name="adj" fmla="val 3077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214866" y="3995928"/>
            <a:ext cx="457200" cy="45720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29" name="Text 27"/>
          <p:cNvSpPr/>
          <p:nvPr/>
        </p:nvSpPr>
        <p:spPr>
          <a:xfrm>
            <a:off x="9214866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14866" y="4572000"/>
            <a:ext cx="1995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14866" y="4937760"/>
            <a:ext cx="1995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884"/>
                </a:solidFill>
              </a:rPr>
              <a:t>El sistema funcional que las soporta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" y="571500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554D"/>
                </a:solidFill>
              </a:rPr>
              <a:t>Por eso el proyecto es un Sistema de Información y no solo una base de datos: no almacena datos sueltos, integra personas, procesos, datos y tecnología.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MARCO CONCEPTUAL ·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datos: el Diagrama Entidad-Relación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83C"/>
                </a:solidFill>
              </a:rPr>
              <a:t>Entidad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337560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Un objeto del que se guarda información (Cliente, Equipo, Orden). En el sistema, cada entidad es una tabla.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551176"/>
            <a:ext cx="7498080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2432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83C"/>
                </a:solidFill>
              </a:rPr>
              <a:t>Atributo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37560" y="262432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Una característica de la entidad (nombre del cliente, marca del equipo, fecha de la orden).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392424"/>
            <a:ext cx="7498080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65576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83C"/>
                </a:solidFill>
              </a:rPr>
              <a:t>Llave primaria (PK)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37560" y="3465576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Identifica de forma única cada registro; por ejemplo, ID_ORDEN. No se repite ni queda vacía.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233672"/>
            <a:ext cx="7498080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306824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83C"/>
                </a:solidFill>
              </a:rPr>
              <a:t>Llave foránea (FK)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337560" y="4306824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Conecta una tabla con otra; por ejemplo, el Diagnóstico guarda el ID_ORDEN y el ID_TECNICO.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5074920"/>
            <a:ext cx="7498080" cy="0"/>
          </a:xfrm>
          <a:prstGeom prst="line">
            <a:avLst/>
          </a:prstGeom>
          <a:noFill/>
          <a:ln w="12700">
            <a:solidFill>
              <a:srgbClr val="D3DB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4807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83C"/>
                </a:solidFill>
              </a:rPr>
              <a:t>Normalización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337560" y="5148072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3640"/>
                </a:solidFill>
              </a:rPr>
              <a:t>Organizar los datos para evitar redundancia: cada dato vive en un solo lugar y las demás tablas lo referencian.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783080"/>
            <a:ext cx="2907792" cy="3931920"/>
          </a:xfrm>
          <a:prstGeom prst="roundRect">
            <a:avLst>
              <a:gd name="adj" fmla="val 1887"/>
            </a:avLst>
          </a:prstGeom>
          <a:solidFill>
            <a:srgbClr val="13283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732520" y="2011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6E64"/>
                </a:solidFill>
              </a:rPr>
              <a:t>POR QUÉ IMPORTA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732520" y="2395728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AF0F2"/>
                </a:solidFill>
              </a:rPr>
              <a:t>Un buen modelo de datos garantiza la integridad y la trazabilidad de la información: cada reparación queda correctamente conectada con su cliente, su técnico, sus repuestos y su pago.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32520" y="4617720"/>
            <a:ext cx="2286000" cy="0"/>
          </a:xfrm>
          <a:prstGeom prst="line">
            <a:avLst/>
          </a:prstGeom>
          <a:noFill/>
          <a:ln w="12700">
            <a:solidFill>
              <a:srgbClr val="3A54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2520" y="4754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9FB1BB"/>
                </a:solidFill>
              </a:rPr>
              <a:t>Modelo Entidad-Relación propuesto por Peter Chen (1976).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PROCESO DEL SERVICIO TÉCNICO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operativo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81328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9C7CF"/>
                </a:solidFill>
              </a:rPr>
              <a:t>Aquí está la diferencia del proyecto: un proceso de varios pasos con seguimiento, no una simple venta.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40687" y="2788920"/>
            <a:ext cx="8507578" cy="0"/>
          </a:xfrm>
          <a:prstGeom prst="line">
            <a:avLst/>
          </a:prstGeom>
          <a:noFill/>
          <a:ln w="25400">
            <a:solidFill>
              <a:srgbClr val="3A54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29791" y="2478024"/>
            <a:ext cx="621792" cy="621792"/>
          </a:xfrm>
          <a:prstGeom prst="ellipse">
            <a:avLst/>
          </a:prstGeom>
          <a:solidFill>
            <a:srgbClr val="0E6E64"/>
          </a:solidFill>
          <a:ln/>
        </p:spPr>
      </p:sp>
      <p:sp>
        <p:nvSpPr>
          <p:cNvPr id="7" name="Text 5"/>
          <p:cNvSpPr/>
          <p:nvPr/>
        </p:nvSpPr>
        <p:spPr>
          <a:xfrm>
            <a:off x="1529791" y="2459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68" dirty="0"/>
          </a:p>
        </p:txBody>
      </p:sp>
      <p:sp>
        <p:nvSpPr>
          <p:cNvPr id="8" name="Text 6"/>
          <p:cNvSpPr/>
          <p:nvPr/>
        </p:nvSpPr>
        <p:spPr>
          <a:xfrm>
            <a:off x="886968" y="3401568"/>
            <a:ext cx="1907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Recepción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3785616"/>
            <a:ext cx="17611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FC0C9"/>
                </a:solidFill>
              </a:rPr>
              <a:t>Se registra el cliente y el equipo; se abre la orden.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6686" y="2478024"/>
            <a:ext cx="621792" cy="621792"/>
          </a:xfrm>
          <a:prstGeom prst="ellipse">
            <a:avLst/>
          </a:prstGeom>
          <a:solidFill>
            <a:srgbClr val="0E6E64"/>
          </a:solidFill>
          <a:ln/>
        </p:spPr>
      </p:sp>
      <p:sp>
        <p:nvSpPr>
          <p:cNvPr id="11" name="Text 9"/>
          <p:cNvSpPr/>
          <p:nvPr/>
        </p:nvSpPr>
        <p:spPr>
          <a:xfrm>
            <a:off x="3656686" y="2459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68" dirty="0"/>
          </a:p>
        </p:txBody>
      </p:sp>
      <p:sp>
        <p:nvSpPr>
          <p:cNvPr id="12" name="Text 10"/>
          <p:cNvSpPr/>
          <p:nvPr/>
        </p:nvSpPr>
        <p:spPr>
          <a:xfrm>
            <a:off x="3013862" y="3401568"/>
            <a:ext cx="1907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87014" y="3785616"/>
            <a:ext cx="17611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FC0C9"/>
                </a:solidFill>
              </a:rPr>
              <a:t>El técnico revisa, define la falla y estima el costo.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83580" y="2478024"/>
            <a:ext cx="621792" cy="621792"/>
          </a:xfrm>
          <a:prstGeom prst="ellipse">
            <a:avLst/>
          </a:prstGeom>
          <a:solidFill>
            <a:srgbClr val="0E6E64"/>
          </a:solidFill>
          <a:ln/>
        </p:spPr>
      </p:sp>
      <p:sp>
        <p:nvSpPr>
          <p:cNvPr id="15" name="Text 13"/>
          <p:cNvSpPr/>
          <p:nvPr/>
        </p:nvSpPr>
        <p:spPr>
          <a:xfrm>
            <a:off x="5783580" y="2459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68" dirty="0"/>
          </a:p>
        </p:txBody>
      </p:sp>
      <p:sp>
        <p:nvSpPr>
          <p:cNvPr id="16" name="Text 14"/>
          <p:cNvSpPr/>
          <p:nvPr/>
        </p:nvSpPr>
        <p:spPr>
          <a:xfrm>
            <a:off x="5140757" y="3401568"/>
            <a:ext cx="1907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Reparación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3909" y="3785616"/>
            <a:ext cx="17611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FC0C9"/>
                </a:solidFill>
              </a:rPr>
              <a:t>Se ejecuta el trabajo y se descuentan los repuestos.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10474" y="2478024"/>
            <a:ext cx="621792" cy="621792"/>
          </a:xfrm>
          <a:prstGeom prst="ellipse">
            <a:avLst/>
          </a:prstGeom>
          <a:solidFill>
            <a:srgbClr val="0E6E64"/>
          </a:solidFill>
          <a:ln/>
        </p:spPr>
      </p:sp>
      <p:sp>
        <p:nvSpPr>
          <p:cNvPr id="19" name="Text 17"/>
          <p:cNvSpPr/>
          <p:nvPr/>
        </p:nvSpPr>
        <p:spPr>
          <a:xfrm>
            <a:off x="7910474" y="2459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68" dirty="0"/>
          </a:p>
        </p:txBody>
      </p:sp>
      <p:sp>
        <p:nvSpPr>
          <p:cNvPr id="20" name="Text 18"/>
          <p:cNvSpPr/>
          <p:nvPr/>
        </p:nvSpPr>
        <p:spPr>
          <a:xfrm>
            <a:off x="7267651" y="3401568"/>
            <a:ext cx="1907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0803" y="3785616"/>
            <a:ext cx="17611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FC0C9"/>
                </a:solidFill>
              </a:rPr>
              <a:t>Se cobra mano de obra más repuestos (efectivo o QR).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37369" y="2478024"/>
            <a:ext cx="621792" cy="621792"/>
          </a:xfrm>
          <a:prstGeom prst="ellipse">
            <a:avLst/>
          </a:prstGeom>
          <a:solidFill>
            <a:srgbClr val="0E6E64"/>
          </a:solidFill>
          <a:ln/>
        </p:spPr>
      </p:sp>
      <p:sp>
        <p:nvSpPr>
          <p:cNvPr id="23" name="Text 21"/>
          <p:cNvSpPr/>
          <p:nvPr/>
        </p:nvSpPr>
        <p:spPr>
          <a:xfrm>
            <a:off x="10037369" y="245973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68" dirty="0"/>
          </a:p>
        </p:txBody>
      </p:sp>
      <p:sp>
        <p:nvSpPr>
          <p:cNvPr id="24" name="Text 22"/>
          <p:cNvSpPr/>
          <p:nvPr/>
        </p:nvSpPr>
        <p:spPr>
          <a:xfrm>
            <a:off x="9394546" y="3401568"/>
            <a:ext cx="1907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67698" y="3785616"/>
            <a:ext cx="17611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FC0C9"/>
                </a:solidFill>
              </a:rPr>
              <a:t>Se cierra la orden y se entrega el equipo.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5074920"/>
            <a:ext cx="10634472" cy="960120"/>
          </a:xfrm>
          <a:prstGeom prst="roundRect">
            <a:avLst>
              <a:gd name="adj" fmla="val 5714"/>
            </a:avLst>
          </a:prstGeom>
          <a:solidFill>
            <a:srgbClr val="1C3A5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97280" y="507492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En cada paso cambia el estado de la orden:  </a:t>
            </a:r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E6E64"/>
                </a:solidFill>
              </a:rPr>
              <a:t>recibido → en diagnóstico → en reparación → listo → entregado.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C7D3D9"/>
                </a:solidFill>
              </a:rPr>
              <a:t>  Por eso el encargado puede informar al instante en qué punto está cada equipo.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E99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E99"/>
                </a:solidFill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DISEÑO 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de información — ocho entidades relacionadas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2860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228600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05256" y="21488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ID_CLIENTE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04872" y="21488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05256" y="23957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NOMBRE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5256" y="264261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TELÉFONO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4069080"/>
            <a:ext cx="22860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069080"/>
            <a:ext cx="228600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05256" y="44348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ID_EQUIPO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04872" y="44348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5256" y="46817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ID_CLIENTE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04872" y="46817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" y="492861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MARCA / MODELO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834640"/>
            <a:ext cx="2788920" cy="1399032"/>
          </a:xfrm>
          <a:prstGeom prst="rect">
            <a:avLst/>
          </a:prstGeom>
          <a:solidFill>
            <a:srgbClr val="FFFFFF"/>
          </a:solidFill>
          <a:ln w="22225">
            <a:solidFill>
              <a:srgbClr val="0E6E64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834640"/>
            <a:ext cx="2788920" cy="365760"/>
          </a:xfrm>
          <a:prstGeom prst="rect">
            <a:avLst/>
          </a:prstGeom>
          <a:solidFill>
            <a:srgbClr val="0E6E64"/>
          </a:solidFill>
          <a:ln w="12700">
            <a:solidFill>
              <a:srgbClr val="0E6E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346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ORDEN_SERVICIO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0016" y="32004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ID_ORDEN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02552" y="320040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0016" y="3447288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ID_CLIENTE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02552" y="344728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0016" y="36941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ID_EQUIPO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02552" y="369417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0016" y="3941064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ESTADO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1783080"/>
            <a:ext cx="233172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1783080"/>
            <a:ext cx="233172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7830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TÉCNICO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28616" y="2148840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ID_TECNICO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73952" y="21488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28616" y="23957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NOMBRE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125712" y="1783080"/>
            <a:ext cx="22860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125712" y="1783080"/>
            <a:ext cx="228600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DIAGNÓSTICO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253728" y="21488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ID_DIAGNOSTICO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753344" y="21488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253728" y="23957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ID_ORDEN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53344" y="239572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253728" y="264261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ID_TECNICO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753344" y="264261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25712" y="3657600"/>
            <a:ext cx="22860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125712" y="3657600"/>
            <a:ext cx="228600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17152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DETALLE_REPUESTO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53728" y="402336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ID_DETALLE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0753344" y="402336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253728" y="427024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ID_ORDEN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753344" y="427024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53728" y="451713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ID_REPUESTO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753344" y="4517136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37760" y="5166360"/>
            <a:ext cx="246888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37760" y="5166360"/>
            <a:ext cx="246888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0" y="5166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PAGO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65776" y="553212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ID_PAGO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748272" y="553212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65776" y="577900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ID_ORDEN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748272" y="5779008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884"/>
                </a:solidFill>
              </a:rPr>
              <a:t>FK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065776" y="602589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TOTAL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125712" y="5440680"/>
            <a:ext cx="2286000" cy="905256"/>
          </a:xfrm>
          <a:prstGeom prst="rect">
            <a:avLst/>
          </a:prstGeom>
          <a:solidFill>
            <a:srgbClr val="FFFFFF"/>
          </a:solidFill>
          <a:ln w="12700">
            <a:solidFill>
              <a:srgbClr val="B9C4C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125712" y="5440680"/>
            <a:ext cx="2286000" cy="365760"/>
          </a:xfrm>
          <a:prstGeom prst="rect">
            <a:avLst/>
          </a:prstGeom>
          <a:solidFill>
            <a:srgbClr val="13283C"/>
          </a:solidFill>
          <a:ln w="12700">
            <a:solidFill>
              <a:srgbClr val="13283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17152" y="5440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REPUESTO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253728" y="5806440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B3640"/>
                </a:solidFill>
              </a:rPr>
              <a:t>ID_REPUESTO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0753344" y="5806440"/>
            <a:ext cx="548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6E64"/>
                </a:solidFill>
              </a:rPr>
              <a:t>PK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253728" y="605332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3640"/>
                </a:solidFill>
              </a:rPr>
              <a:t>STOCK_ACTUAL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063240" y="2359152"/>
            <a:ext cx="1508760" cy="900684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08960" y="2249424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251960" y="3131820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063240" y="4645152"/>
            <a:ext cx="1508760" cy="-836676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108960" y="4535424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251960" y="3717036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132320" y="2235708"/>
            <a:ext cx="1993392" cy="-13716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78040" y="2125980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805672" y="2157984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360920" y="3305556"/>
            <a:ext cx="1764792" cy="-763524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06640" y="3177540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8805672" y="2450592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360920" y="3762756"/>
            <a:ext cx="1764792" cy="379476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3671316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8805672" y="4014216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268712" y="5440680"/>
            <a:ext cx="0" cy="-630936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131552" y="5212080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10131552" y="4818888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966460" y="4233672"/>
            <a:ext cx="205740" cy="932688"/>
          </a:xfrm>
          <a:prstGeom prst="line">
            <a:avLst/>
          </a:prstGeom>
          <a:noFill/>
          <a:ln w="19050">
            <a:solidFill>
              <a:srgbClr val="9AA8B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29300" y="4242816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035040" y="4937760"/>
            <a:ext cx="27432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54D"/>
                </a:solidFill>
              </a:rPr>
              <a:t>1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77240" y="5669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6B7884"/>
                </a:solidFill>
              </a:rPr>
              <a:t>La Orden de Servicio es la entidad central; las llaves foráneas conectan cada reparación con su cliente, equipo, técnico, repuestos y pago.</a:t>
            </a: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DISEÑO 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Diccionario de datos — ejemplo: Orden de Servicio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3447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097280"/>
                <a:gridCol w="551383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ID_ORDEN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0E6E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Identificador único de la orden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FECHA_RECEPCIÓN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de ingreso del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que solicita el servicio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ID_EQUIPO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Equipo recibido para reparación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FALLA_REPORTADA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 indicado por el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Recibido · en reparación · listo · entregado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FECHA_ENTREGA_EST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 estimada de entrega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760720"/>
            <a:ext cx="1063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0A554D"/>
                </a:solidFill>
              </a:rPr>
              <a:t>Las otras siete entidades (Cliente, Equipo, Técnico, Diagnóstico, Repuesto, Detalle de repuesto y Pago) siguen esta misma estructura: cada campo con su tipo, su llave y su descripción.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RESULTADO EN OPERACIÓN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Trazabilidad: una reparación seguida de principio a fin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6276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54D"/>
                </a:solidFill>
              </a:rPr>
              <a:t>Ejemplo real registrado en el sistema — Orden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7315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B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249424"/>
            <a:ext cx="365760" cy="36576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7" name="Text 5"/>
          <p:cNvSpPr/>
          <p:nvPr/>
        </p:nvSpPr>
        <p:spPr>
          <a:xfrm>
            <a:off x="923544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C"/>
                </a:solidFill>
              </a:rPr>
              <a:t>Cliente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343400" y="21488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640"/>
                </a:solidFill>
              </a:rPr>
              <a:t>Mario Tipuni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7315200" cy="566928"/>
          </a:xfrm>
          <a:prstGeom prst="rect">
            <a:avLst/>
          </a:prstGeom>
          <a:solidFill>
            <a:srgbClr val="F2F5F6"/>
          </a:solidFill>
          <a:ln w="6350">
            <a:solidFill>
              <a:srgbClr val="D3DB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2843784"/>
            <a:ext cx="365760" cy="36576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12" name="Text 10"/>
          <p:cNvSpPr/>
          <p:nvPr/>
        </p:nvSpPr>
        <p:spPr>
          <a:xfrm>
            <a:off x="923544" y="2825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463040" y="27432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C"/>
                </a:solidFill>
              </a:rPr>
              <a:t>Equipo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640"/>
                </a:solidFill>
              </a:rPr>
              <a:t>Huawei P30 Lite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7315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B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3544" y="3438144"/>
            <a:ext cx="365760" cy="36576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C"/>
                </a:solidFill>
              </a:rPr>
              <a:t>Falla / diagnóstico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43400" y="333756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640"/>
                </a:solidFill>
              </a:rPr>
              <a:t>Pantalla dañada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" y="3931920"/>
            <a:ext cx="7315200" cy="566928"/>
          </a:xfrm>
          <a:prstGeom prst="rect">
            <a:avLst/>
          </a:prstGeom>
          <a:solidFill>
            <a:srgbClr val="F2F5F6"/>
          </a:solidFill>
          <a:ln w="6350">
            <a:solidFill>
              <a:srgbClr val="D3DB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" y="4032504"/>
            <a:ext cx="365760" cy="36576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1463040" y="393192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C"/>
                </a:solidFill>
              </a:rPr>
              <a:t>Técnico responsable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43400" y="39319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640"/>
                </a:solidFill>
              </a:rPr>
              <a:t>Carlos Paz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" y="4526280"/>
            <a:ext cx="7315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3DBD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3544" y="4626864"/>
            <a:ext cx="365760" cy="36576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27" name="Text 25"/>
          <p:cNvSpPr/>
          <p:nvPr/>
        </p:nvSpPr>
        <p:spPr>
          <a:xfrm>
            <a:off x="923544" y="4608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1463040" y="45262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C"/>
                </a:solidFill>
              </a:rPr>
              <a:t>Repuesto consumido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343400" y="452628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640"/>
                </a:solidFill>
              </a:rPr>
              <a:t>Pantalla Huawei P30 — 1 unidad (180 Bs)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77240" y="5120640"/>
            <a:ext cx="7315200" cy="566928"/>
          </a:xfrm>
          <a:prstGeom prst="rect">
            <a:avLst/>
          </a:prstGeom>
          <a:solidFill>
            <a:srgbClr val="F2F5F6"/>
          </a:solidFill>
          <a:ln w="6350">
            <a:solidFill>
              <a:srgbClr val="D3DB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3544" y="5221224"/>
            <a:ext cx="365760" cy="365760"/>
          </a:xfrm>
          <a:prstGeom prst="ellipse">
            <a:avLst/>
          </a:prstGeom>
          <a:solidFill>
            <a:srgbClr val="13283C"/>
          </a:solidFill>
          <a:ln/>
        </p:spPr>
      </p:sp>
      <p:sp>
        <p:nvSpPr>
          <p:cNvPr id="32" name="Text 30"/>
          <p:cNvSpPr/>
          <p:nvPr/>
        </p:nvSpPr>
        <p:spPr>
          <a:xfrm>
            <a:off x="923544" y="5202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1463040" y="51206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83C"/>
                </a:solidFill>
              </a:rPr>
              <a:t>Pago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343400" y="512064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3640"/>
                </a:solidFill>
              </a:rPr>
              <a:t>Efectivo — estado: pagado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503920" y="2148840"/>
            <a:ext cx="2907792" cy="3566160"/>
          </a:xfrm>
          <a:prstGeom prst="roundRect">
            <a:avLst>
              <a:gd name="adj" fmla="val 1887"/>
            </a:avLst>
          </a:prstGeom>
          <a:solidFill>
            <a:srgbClr val="13283C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732520" y="2377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E6E64"/>
                </a:solidFill>
              </a:rPr>
              <a:t>QUÉ PERMITE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732520" y="2788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—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79408" y="2770632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AF0F2"/>
                </a:solidFill>
              </a:rPr>
              <a:t>Saber quién atendió cada equipo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732520" y="35021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—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79408" y="348386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AF0F2"/>
                </a:solidFill>
              </a:rPr>
              <a:t>Conocer qué repuestos se consumieron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32520" y="42153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—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979408" y="4197096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AF0F2"/>
                </a:solidFill>
              </a:rPr>
              <a:t>Calcular el cobro: mano de obra + repuestos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732520" y="49286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4"/>
                </a:solidFill>
              </a:rPr>
              <a:t>—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979408" y="491032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EAF0F2"/>
                </a:solidFill>
              </a:rPr>
              <a:t>Consultar el historial de cada cliente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DE LA PROPUESTA AL SISTEMA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Fuimos más allá del diseño: un sistema funcional propio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5074920" cy="1737360"/>
          </a:xfrm>
          <a:prstGeom prst="roundRect">
            <a:avLst>
              <a:gd name="adj" fmla="val 3158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884"/>
                </a:solidFill>
              </a:rPr>
              <a:t>LO PROPUESTO EN EL DOCUMENTO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51560" y="23042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3640"/>
                </a:solidFill>
              </a:rPr>
              <a:t>El diseño y el modelo lógico del sistema, con Odoo citado como una alternativa tecnológica de referencia.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897880" y="23317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6E64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537960" y="1783080"/>
            <a:ext cx="4873752" cy="1737360"/>
          </a:xfrm>
          <a:prstGeom prst="roundRect">
            <a:avLst>
              <a:gd name="adj" fmla="val 3158"/>
            </a:avLst>
          </a:prstGeom>
          <a:solidFill>
            <a:srgbClr val="0E6E64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19933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CEBE9"/>
                </a:solidFill>
              </a:rPr>
              <a:t>LO QUE ENTREGAMOS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12280" y="2304288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FFFFF"/>
                </a:solidFill>
              </a:rPr>
              <a:t>Un sistema funcional propio, a la medida del proceso del servicio técnico, que implementa nuestro modelo de datos.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77240" y="3886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7884"/>
                </a:solidFill>
              </a:rPr>
              <a:t>UNA DECISIÓN DE DISEÑO, NO UNA LIMITACIÓN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251960"/>
            <a:ext cx="336194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462272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Adaptado al contexto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864608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Pensado para Rurrenabaque, donde la conectividad es variable y los recursos limitados.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13504" y="4251960"/>
            <a:ext cx="336194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2104" y="4462272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 siempre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42104" y="4864608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Opera de forma local: no depende de que internet esté disponible para registrar una reparación.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9768" y="4251960"/>
            <a:ext cx="3361944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78368" y="4462272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Preparado para crecer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8368" y="4864608"/>
            <a:ext cx="2904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La misma base puede sincronizarse y ampliarse cuando el negocio lo requiera.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ya opera con datos reales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83080"/>
            <a:ext cx="2452878" cy="1691640"/>
          </a:xfrm>
          <a:prstGeom prst="roundRect">
            <a:avLst>
              <a:gd name="adj" fmla="val 3243"/>
            </a:avLst>
          </a:prstGeom>
          <a:solidFill>
            <a:srgbClr val="1C3A5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38528"/>
            <a:ext cx="2452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1785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D9"/>
                </a:solidFill>
              </a:rPr>
              <a:t>órdenes de servicio registradas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504438" y="1783080"/>
            <a:ext cx="2452878" cy="1691640"/>
          </a:xfrm>
          <a:prstGeom prst="roundRect">
            <a:avLst>
              <a:gd name="adj" fmla="val 3243"/>
            </a:avLst>
          </a:prstGeom>
          <a:solidFill>
            <a:srgbClr val="1C3A5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4438" y="1938528"/>
            <a:ext cx="2452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41598" y="2788920"/>
            <a:ext cx="21785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D9"/>
                </a:solidFill>
              </a:rPr>
              <a:t>entidades relacionadas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1636" y="1783080"/>
            <a:ext cx="2452878" cy="1691640"/>
          </a:xfrm>
          <a:prstGeom prst="roundRect">
            <a:avLst>
              <a:gd name="adj" fmla="val 3243"/>
            </a:avLst>
          </a:prstGeom>
          <a:solidFill>
            <a:srgbClr val="1C3A5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1636" y="1938528"/>
            <a:ext cx="2452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68796" y="2788920"/>
            <a:ext cx="21785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D9"/>
                </a:solidFill>
              </a:rPr>
              <a:t>técnicos con trabajo asignado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58834" y="1783080"/>
            <a:ext cx="2452878" cy="1691640"/>
          </a:xfrm>
          <a:prstGeom prst="roundRect">
            <a:avLst>
              <a:gd name="adj" fmla="val 3243"/>
            </a:avLst>
          </a:prstGeom>
          <a:solidFill>
            <a:srgbClr val="1C3A5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58834" y="1938528"/>
            <a:ext cx="24528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10.000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095994" y="2788920"/>
            <a:ext cx="21785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7D3D9"/>
                </a:solidFill>
              </a:rPr>
              <a:t>Bs/mes de movimiento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6E64"/>
                </a:solidFill>
              </a:rPr>
              <a:t>LO QUE ENTREGA AL NEGOCIO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224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4"/>
                </a:solidFill>
              </a:rPr>
              <a:t>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69848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0F2"/>
                </a:solidFill>
              </a:rPr>
              <a:t>Control de cada orden y de su estado en todo momento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42245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4"/>
                </a:solidFill>
              </a:rPr>
              <a:t>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10528" y="42062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0F2"/>
                </a:solidFill>
              </a:rPr>
              <a:t>Consumo de repuestos registrado y stock actualizado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974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4"/>
                </a:solidFill>
              </a:rPr>
              <a:t>—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9848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0F2"/>
                </a:solidFill>
              </a:rPr>
              <a:t>Trazabilidad, código QR y comprobante PDF para el cliente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497433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E64"/>
                </a:solidFill>
              </a:rPr>
              <a:t>—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0528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AF0F2"/>
                </a:solidFill>
              </a:rPr>
              <a:t>Reportes, búsqueda global y respaldo de los datos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E99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E99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SOSTENIBILIDAD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74980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arquitectura preparada para crecer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06549" y="2834640"/>
            <a:ext cx="7975854" cy="0"/>
          </a:xfrm>
          <a:prstGeom prst="line">
            <a:avLst/>
          </a:prstGeom>
          <a:noFill/>
          <a:ln w="25400">
            <a:solidFill>
              <a:srgbClr val="D3D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3941" y="2542032"/>
            <a:ext cx="585216" cy="585216"/>
          </a:xfrm>
          <a:prstGeom prst="ellipse">
            <a:avLst/>
          </a:prstGeom>
          <a:solidFill>
            <a:srgbClr val="0E6E64"/>
          </a:solidFill>
          <a:ln/>
        </p:spPr>
      </p:sp>
      <p:sp>
        <p:nvSpPr>
          <p:cNvPr id="6" name="Text 4"/>
          <p:cNvSpPr/>
          <p:nvPr/>
        </p:nvSpPr>
        <p:spPr>
          <a:xfrm>
            <a:off x="1813941" y="25237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64" dirty="0"/>
          </a:p>
        </p:txBody>
      </p:sp>
      <p:sp>
        <p:nvSpPr>
          <p:cNvPr id="7" name="Text 5"/>
          <p:cNvSpPr/>
          <p:nvPr/>
        </p:nvSpPr>
        <p:spPr>
          <a:xfrm>
            <a:off x="886968" y="3456432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55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Sistema de gestión funcional para el área técnica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72559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28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2559" y="25237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45586" y="3456432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64458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Multiusuario con acceso por roles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1177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28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1177" y="25237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04204" y="3456432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323076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Portal de clientes y aplicación móvil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789795" y="2542032"/>
            <a:ext cx="585216" cy="58521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328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9795" y="25237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862822" y="3456432"/>
            <a:ext cx="24391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981694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884"/>
                </a:solidFill>
              </a:rPr>
              <a:t>Reportes avanzados y varias sucursales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10634472" cy="914400"/>
          </a:xfrm>
          <a:prstGeom prst="roundRect">
            <a:avLst>
              <a:gd name="adj" fmla="val 6000"/>
            </a:avLst>
          </a:prstGeom>
          <a:solidFill>
            <a:srgbClr val="F2F5F6"/>
          </a:solidFill>
          <a:ln w="12700">
            <a:solidFill>
              <a:srgbClr val="D3DBD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69848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3283C"/>
                </a:solidFill>
              </a:rPr>
              <a:t>Implementación por etapas: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B3640"/>
                </a:solidFill>
              </a:rPr>
              <a:t>empezar simple — órdenes e inventario — y crecer según las necesidades del negocio. Es el camino más viable para una empresa pequeña.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Android Market · Sistema de Información para Servicios Técnicos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32720" y="643737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84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6400800" cy="6400800"/>
          </a:xfrm>
          <a:prstGeom prst="ellipse">
            <a:avLst/>
          </a:prstGeom>
          <a:solidFill>
            <a:srgbClr val="1C3A5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E64"/>
                </a:solidFill>
              </a:rPr>
              <a:t>CONCLUSIÓN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3075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AF0F2"/>
                </a:solidFill>
              </a:rPr>
              <a:t>El registro manual generaba pérdida de información y falta de seguimiento de los equipos.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203911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AF0F2"/>
                </a:solidFill>
              </a:rPr>
              <a:t>El modelo de datos organiza el proceso completo: clientes, equipos, órdenes, diagnósticos, repuestos y pagos.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6E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77063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EAF0F2"/>
                </a:solidFill>
              </a:rPr>
              <a:t>El sistema aporta trazabilidad y datos confiables para la toma de decisiones del negocio.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77240" y="3749040"/>
            <a:ext cx="10634472" cy="0"/>
          </a:xfrm>
          <a:prstGeom prst="line">
            <a:avLst/>
          </a:prstGeom>
          <a:noFill/>
          <a:ln w="12700">
            <a:solidFill>
              <a:srgbClr val="3A54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06908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 no fue únicamente registrar datos. Fue diseñar un Sistema de Información capaz de representar, organizar y mejorar los procesos reales de un servicio técnico.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772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6E64"/>
                </a:solidFill>
              </a:rPr>
              <a:t>Gracias por su atención.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0" y="5943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i="1" dirty="0">
                <a:solidFill>
                  <a:srgbClr val="9FB1BB"/>
                </a:solidFill>
              </a:rPr>
              <a:t>¿Preguntas?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1795C"/>
                </a:solidFill>
                <a:latin typeface="Calibri"/>
              </a:rPr>
              <a:t>ANEXOS · EVIDENCIA FOTOGRÁFICA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1F2D3D"/>
                </a:solidFill>
                <a:latin typeface="Cambria"/>
              </a:rPr>
              <a:t>Android Market — un caso real</a:t>
            </a:r>
          </a:p>
        </p:txBody>
      </p:sp>
      <p:pic>
        <p:nvPicPr>
          <p:cNvPr id="4" name="Picture 3" descr="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29184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3767327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Calibri"/>
              </a:rPr>
              <a:t>El local — Android Market</a:t>
            </a:r>
          </a:p>
        </p:txBody>
      </p:sp>
      <p:pic>
        <p:nvPicPr>
          <p:cNvPr id="6" name="Picture 5" descr="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470" y="1554480"/>
            <a:ext cx="329184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49470" y="3767327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Calibri"/>
              </a:rPr>
              <a:t>Atención al cliente</a:t>
            </a:r>
          </a:p>
        </p:txBody>
      </p:sp>
      <p:pic>
        <p:nvPicPr>
          <p:cNvPr id="8" name="Picture 7" descr="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0" y="1554480"/>
            <a:ext cx="329184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58860" y="3767327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Calibri"/>
              </a:rPr>
              <a:t>Rurrenabaque, Beni</a:t>
            </a:r>
          </a:p>
        </p:txBody>
      </p:sp>
      <p:pic>
        <p:nvPicPr>
          <p:cNvPr id="10" name="Picture 9" descr="g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14800"/>
            <a:ext cx="329184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632764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Calibri"/>
              </a:rPr>
              <a:t>Diagnóstico y reparación</a:t>
            </a:r>
          </a:p>
        </p:txBody>
      </p:sp>
      <p:pic>
        <p:nvPicPr>
          <p:cNvPr id="12" name="Picture 11" descr="g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470" y="4114800"/>
            <a:ext cx="329184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49470" y="632764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Calibri"/>
              </a:rPr>
              <a:t>Equipos en reparación</a:t>
            </a:r>
          </a:p>
        </p:txBody>
      </p:sp>
      <p:pic>
        <p:nvPicPr>
          <p:cNvPr id="14" name="Picture 13" descr="g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8860" y="4114800"/>
            <a:ext cx="329184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58860" y="6327648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667085"/>
                </a:solidFill>
                <a:latin typeface="Calibri"/>
              </a:rPr>
              <a:t>Repuestos y baterías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653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67085"/>
                </a:solidFill>
                <a:latin typeface="Calibri"/>
              </a:rPr>
              <a:t>Android Market · Sistema de Información para Servicios Técnicos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Market — Sistema de Información para la Gestión de Servicios Técnicos</dc:title>
  <dc:subject>PptxGenJS Presentation</dc:subject>
  <dc:creator>Equipo Android Market</dc:creator>
  <cp:lastModifiedBy>Equipo Android Market</cp:lastModifiedBy>
  <cp:revision>1</cp:revision>
  <dcterms:created xsi:type="dcterms:W3CDTF">2026-06-09T12:56:21Z</dcterms:created>
  <dcterms:modified xsi:type="dcterms:W3CDTF">2026-06-09T12:56:21Z</dcterms:modified>
</cp:coreProperties>
</file>